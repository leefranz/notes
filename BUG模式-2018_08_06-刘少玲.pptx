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51"/>
  </p:notesMasterIdLst>
  <p:sldIdLst>
    <p:sldId id="326" r:id="rId2"/>
    <p:sldId id="355" r:id="rId3"/>
    <p:sldId id="357" r:id="rId4"/>
    <p:sldId id="358" r:id="rId5"/>
    <p:sldId id="359" r:id="rId6"/>
    <p:sldId id="360" r:id="rId7"/>
    <p:sldId id="397" r:id="rId8"/>
    <p:sldId id="398" r:id="rId9"/>
    <p:sldId id="399" r:id="rId10"/>
    <p:sldId id="400" r:id="rId11"/>
    <p:sldId id="401" r:id="rId12"/>
    <p:sldId id="402" r:id="rId13"/>
    <p:sldId id="403" r:id="rId14"/>
    <p:sldId id="404" r:id="rId15"/>
    <p:sldId id="369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5" r:id="rId33"/>
    <p:sldId id="426" r:id="rId34"/>
    <p:sldId id="427" r:id="rId35"/>
    <p:sldId id="428" r:id="rId36"/>
    <p:sldId id="429" r:id="rId37"/>
    <p:sldId id="430" r:id="rId38"/>
    <p:sldId id="422" r:id="rId39"/>
    <p:sldId id="412" r:id="rId40"/>
    <p:sldId id="423" r:id="rId41"/>
    <p:sldId id="424" r:id="rId42"/>
    <p:sldId id="391" r:id="rId43"/>
    <p:sldId id="392" r:id="rId44"/>
    <p:sldId id="393" r:id="rId45"/>
    <p:sldId id="394" r:id="rId46"/>
    <p:sldId id="395" r:id="rId47"/>
    <p:sldId id="396" r:id="rId48"/>
    <p:sldId id="431" r:id="rId49"/>
    <p:sldId id="316" r:id="rId50"/>
  </p:sldIdLst>
  <p:sldSz cx="12801600" cy="9601200" type="A3"/>
  <p:notesSz cx="6858000" cy="9144000"/>
  <p:defaultTextStyle>
    <a:defPPr>
      <a:defRPr lang="en-US"/>
    </a:defPPr>
    <a:lvl1pPr algn="l" defTabSz="639763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639763" indent="-182563" algn="l" defTabSz="639763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1279525" indent="-365125" algn="l" defTabSz="639763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919288" indent="-547688" algn="l" defTabSz="639763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2559050" indent="-730250" algn="l" defTabSz="639763" rtl="0" fontAlgn="base">
      <a:spcBef>
        <a:spcPct val="0"/>
      </a:spcBef>
      <a:spcAft>
        <a:spcPct val="0"/>
      </a:spcAft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66FF"/>
    <a:srgbClr val="006600"/>
    <a:srgbClr val="006666"/>
    <a:srgbClr val="339966"/>
    <a:srgbClr val="E37B4F"/>
    <a:srgbClr val="F2E5C6"/>
    <a:srgbClr val="0076B7"/>
    <a:srgbClr val="FEE364"/>
    <a:srgbClr val="7891A2"/>
    <a:srgbClr val="E8E8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1560" y="-162"/>
      </p:cViewPr>
      <p:guideLst>
        <p:guide orient="horz" pos="3024"/>
        <p:guide pos="4163"/>
      </p:guideLst>
    </p:cSldViewPr>
  </p:slideViewPr>
  <p:outlineViewPr>
    <p:cViewPr>
      <p:scale>
        <a:sx n="33" d="100"/>
        <a:sy n="33" d="100"/>
      </p:scale>
      <p:origin x="0" y="-31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18181772-B935-467D-87BA-38A4DEB8DA9B}" type="datetimeFigureOut">
              <a:rPr lang="en-US" altLang="zh-CN"/>
              <a:pPr>
                <a:defRPr/>
              </a:pPr>
              <a:t>8/11/2018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43EE08B-5BF8-4C37-B646-78722503FF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xmlns="" val="1419058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5613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1pPr>
    <a:lvl2pPr marL="455613" algn="l" defTabSz="455613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2pPr>
    <a:lvl3pPr marL="912813" algn="l" defTabSz="455613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3pPr>
    <a:lvl4pPr marL="1370013" algn="l" defTabSz="455613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4pPr>
    <a:lvl5pPr marL="1827213" algn="l" defTabSz="455613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宋体" charset="0"/>
        <a:cs typeface="+mn-cs"/>
      </a:defRPr>
    </a:lvl5pPr>
    <a:lvl6pPr marL="2285797" algn="l" defTabSz="4571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6" algn="l" defTabSz="4571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5" algn="l" defTabSz="4571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74" algn="l" defTabSz="4571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06307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隔页和关键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2188" y="3175"/>
            <a:ext cx="1241425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785"/>
            <a:ext cx="12801600" cy="96012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179" tIns="45090" rIns="90179" bIns="45090"/>
          <a:lstStyle>
            <a:lvl1pPr>
              <a:defRPr sz="1100"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061761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92370" y="1626361"/>
            <a:ext cx="10878988" cy="921518"/>
          </a:xfrm>
          <a:prstGeom prst="rect">
            <a:avLst/>
          </a:prstGeom>
        </p:spPr>
        <p:txBody>
          <a:bodyPr lIns="127997" tIns="63999" rIns="127997" bIns="63999"/>
          <a:lstStyle>
            <a:lvl1pPr algn="l">
              <a:lnSpc>
                <a:spcPct val="110000"/>
              </a:lnSpc>
              <a:defRPr sz="3500" b="0" i="0" spc="197" baseline="0">
                <a:solidFill>
                  <a:schemeClr val="tx1">
                    <a:lumMod val="75000"/>
                    <a:lumOff val="25000"/>
                  </a:schemeClr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992370" y="2874993"/>
            <a:ext cx="10878988" cy="5543808"/>
          </a:xfrm>
          <a:prstGeom prst="rect">
            <a:avLst/>
          </a:prstGeom>
        </p:spPr>
        <p:txBody>
          <a:bodyPr lIns="127997" tIns="63999" rIns="127997" bIns="63999"/>
          <a:lstStyle>
            <a:lvl1pPr marL="507243" indent="-507243">
              <a:lnSpc>
                <a:spcPct val="150000"/>
              </a:lnSpc>
              <a:buFont typeface="+mj-lt"/>
              <a:buAutoNum type="arabicPeriod"/>
              <a:defRPr sz="2600" spc="148" baseline="0">
                <a:solidFill>
                  <a:schemeClr val="tx1">
                    <a:lumMod val="75000"/>
                    <a:lumOff val="25000"/>
                  </a:schemeClr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defRPr>
            </a:lvl1pPr>
            <a:lvl2pPr>
              <a:lnSpc>
                <a:spcPct val="150000"/>
              </a:lnSpc>
              <a:defRPr sz="24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2pPr>
            <a:lvl3pPr>
              <a:lnSpc>
                <a:spcPct val="150000"/>
              </a:lnSpc>
              <a:defRPr sz="18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3pPr>
            <a:lvl4pPr>
              <a:lnSpc>
                <a:spcPct val="150000"/>
              </a:lnSpc>
              <a:defRPr sz="18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4pPr>
            <a:lvl5pPr>
              <a:lnSpc>
                <a:spcPct val="150000"/>
              </a:lnSpc>
              <a:defRPr sz="18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38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92370" y="1626361"/>
            <a:ext cx="10878988" cy="1243686"/>
          </a:xfrm>
          <a:prstGeom prst="rect">
            <a:avLst/>
          </a:prstGeom>
        </p:spPr>
        <p:txBody>
          <a:bodyPr lIns="127997" tIns="63999" rIns="127997" bIns="63999"/>
          <a:lstStyle>
            <a:lvl1pPr algn="l">
              <a:lnSpc>
                <a:spcPct val="110000"/>
              </a:lnSpc>
              <a:defRPr sz="3500" b="0" i="0" spc="197" baseline="0">
                <a:solidFill>
                  <a:schemeClr val="tx1">
                    <a:lumMod val="75000"/>
                    <a:lumOff val="25000"/>
                  </a:schemeClr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992370" y="3314980"/>
            <a:ext cx="10878988" cy="5103821"/>
          </a:xfrm>
          <a:prstGeom prst="rect">
            <a:avLst/>
          </a:prstGeom>
        </p:spPr>
        <p:txBody>
          <a:bodyPr lIns="127997" tIns="63999" rIns="127997" bIns="63999"/>
          <a:lstStyle>
            <a:lvl1pPr marL="507243" indent="-507243">
              <a:lnSpc>
                <a:spcPct val="150000"/>
              </a:lnSpc>
              <a:buFont typeface="+mj-lt"/>
              <a:buAutoNum type="arabicPeriod"/>
              <a:defRPr sz="2600" spc="148" baseline="0">
                <a:solidFill>
                  <a:schemeClr val="tx1">
                    <a:lumMod val="75000"/>
                    <a:lumOff val="25000"/>
                  </a:schemeClr>
                </a:solidFill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1pPr>
            <a:lvl2pPr>
              <a:lnSpc>
                <a:spcPct val="150000"/>
              </a:lnSpc>
              <a:defRPr sz="24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2pPr>
            <a:lvl3pPr>
              <a:lnSpc>
                <a:spcPct val="150000"/>
              </a:lnSpc>
              <a:defRPr sz="18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3pPr>
            <a:lvl4pPr>
              <a:lnSpc>
                <a:spcPct val="150000"/>
              </a:lnSpc>
              <a:defRPr sz="18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4pPr>
            <a:lvl5pPr>
              <a:lnSpc>
                <a:spcPct val="150000"/>
              </a:lnSpc>
              <a:defRPr sz="1800" spc="148" baseline="0">
                <a:latin typeface="方正兰亭纤黑_GBK" panose="02000000000000000000" pitchFamily="2" charset="-122"/>
                <a:ea typeface="方正兰亭纤黑_GBK" panose="02000000000000000000" pitchFamily="2" charset="-122"/>
                <a:cs typeface="方正兰亭纤黑_GBK" panose="02000000000000000000" pitchFamily="2" charset="-122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88601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双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428234" y="3443688"/>
            <a:ext cx="5783303" cy="57274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179" tIns="45090" rIns="90179" bIns="45090"/>
          <a:lstStyle>
            <a:lvl1pPr>
              <a:defRPr sz="1100"/>
            </a:lvl1pPr>
          </a:lstStyle>
          <a:p>
            <a:pPr lvl="0"/>
            <a:endParaRPr lang="en-US" noProof="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92370" y="1626361"/>
            <a:ext cx="10878988" cy="1243686"/>
          </a:xfrm>
          <a:prstGeom prst="rect">
            <a:avLst/>
          </a:prstGeom>
        </p:spPr>
        <p:txBody>
          <a:bodyPr lIns="127997" tIns="63999" rIns="127997" bIns="63999"/>
          <a:lstStyle>
            <a:lvl1pPr algn="l">
              <a:lnSpc>
                <a:spcPct val="110000"/>
              </a:lnSpc>
              <a:defRPr sz="3500" b="0" i="0" spc="197" baseline="0">
                <a:solidFill>
                  <a:schemeClr val="tx1">
                    <a:lumMod val="75000"/>
                    <a:lumOff val="25000"/>
                  </a:schemeClr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6575904" y="3443688"/>
            <a:ext cx="5783303" cy="57274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179" tIns="45090" rIns="90179" bIns="45090"/>
          <a:lstStyle>
            <a:lvl1pPr>
              <a:defRPr sz="1100"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97834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单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428232" y="3443688"/>
            <a:ext cx="11959915" cy="57274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0179" tIns="45090" rIns="90179" bIns="45090"/>
          <a:lstStyle>
            <a:lvl1pPr>
              <a:defRPr sz="1100"/>
            </a:lvl1pPr>
          </a:lstStyle>
          <a:p>
            <a:pPr lvl="0"/>
            <a:endParaRPr lang="en-US" noProof="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92370" y="1626361"/>
            <a:ext cx="10878988" cy="1243686"/>
          </a:xfrm>
          <a:prstGeom prst="rect">
            <a:avLst/>
          </a:prstGeom>
        </p:spPr>
        <p:txBody>
          <a:bodyPr lIns="127997" tIns="63999" rIns="127997" bIns="63999"/>
          <a:lstStyle>
            <a:lvl1pPr algn="l">
              <a:lnSpc>
                <a:spcPct val="110000"/>
              </a:lnSpc>
              <a:defRPr sz="3500" b="0" i="0" spc="197" baseline="0">
                <a:solidFill>
                  <a:schemeClr val="tx1">
                    <a:lumMod val="75000"/>
                    <a:lumOff val="25000"/>
                  </a:schemeClr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9298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/>
          <p:cNvSpPr>
            <a:spLocks noChangeArrowheads="1"/>
          </p:cNvSpPr>
          <p:nvPr userDrawn="1"/>
        </p:nvSpPr>
        <p:spPr bwMode="auto">
          <a:xfrm>
            <a:off x="1136650" y="9818688"/>
            <a:ext cx="354013" cy="358775"/>
          </a:xfrm>
          <a:prstGeom prst="rect">
            <a:avLst/>
          </a:prstGeom>
          <a:solidFill>
            <a:srgbClr val="FEE364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8" name="Rectangle 13"/>
          <p:cNvSpPr>
            <a:spLocks noChangeArrowheads="1"/>
          </p:cNvSpPr>
          <p:nvPr userDrawn="1"/>
        </p:nvSpPr>
        <p:spPr bwMode="auto">
          <a:xfrm>
            <a:off x="1601788" y="9818688"/>
            <a:ext cx="354012" cy="358775"/>
          </a:xfrm>
          <a:prstGeom prst="rect">
            <a:avLst/>
          </a:prstGeom>
          <a:solidFill>
            <a:srgbClr val="F7BD4C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9" name="Rectangle 14"/>
          <p:cNvSpPr>
            <a:spLocks noChangeArrowheads="1"/>
          </p:cNvSpPr>
          <p:nvPr userDrawn="1"/>
        </p:nvSpPr>
        <p:spPr bwMode="auto">
          <a:xfrm>
            <a:off x="2058988" y="9818688"/>
            <a:ext cx="354012" cy="358775"/>
          </a:xfrm>
          <a:prstGeom prst="rect">
            <a:avLst/>
          </a:prstGeom>
          <a:solidFill>
            <a:srgbClr val="E37B4F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0" name="Rectangle 15"/>
          <p:cNvSpPr>
            <a:spLocks noChangeArrowheads="1"/>
          </p:cNvSpPr>
          <p:nvPr userDrawn="1"/>
        </p:nvSpPr>
        <p:spPr bwMode="auto">
          <a:xfrm>
            <a:off x="2522538" y="9818688"/>
            <a:ext cx="354012" cy="358775"/>
          </a:xfrm>
          <a:prstGeom prst="rect">
            <a:avLst/>
          </a:prstGeom>
          <a:solidFill>
            <a:srgbClr val="D2655F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1" name="Rectangle 16"/>
          <p:cNvSpPr>
            <a:spLocks noChangeArrowheads="1"/>
          </p:cNvSpPr>
          <p:nvPr userDrawn="1"/>
        </p:nvSpPr>
        <p:spPr bwMode="auto">
          <a:xfrm>
            <a:off x="2974975" y="9818688"/>
            <a:ext cx="355600" cy="358775"/>
          </a:xfrm>
          <a:prstGeom prst="rect">
            <a:avLst/>
          </a:prstGeom>
          <a:solidFill>
            <a:srgbClr val="BF4842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2" name="Rectangle 17"/>
          <p:cNvSpPr>
            <a:spLocks noChangeArrowheads="1"/>
          </p:cNvSpPr>
          <p:nvPr userDrawn="1"/>
        </p:nvSpPr>
        <p:spPr bwMode="auto">
          <a:xfrm>
            <a:off x="3463925" y="9818688"/>
            <a:ext cx="354013" cy="358775"/>
          </a:xfrm>
          <a:prstGeom prst="rect">
            <a:avLst/>
          </a:prstGeom>
          <a:solidFill>
            <a:srgbClr val="AC5581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3" name="Rectangle 18"/>
          <p:cNvSpPr>
            <a:spLocks noChangeArrowheads="1"/>
          </p:cNvSpPr>
          <p:nvPr userDrawn="1"/>
        </p:nvSpPr>
        <p:spPr bwMode="auto">
          <a:xfrm>
            <a:off x="0" y="9818688"/>
            <a:ext cx="354013" cy="358775"/>
          </a:xfrm>
          <a:prstGeom prst="rect">
            <a:avLst/>
          </a:prstGeom>
          <a:solidFill>
            <a:srgbClr val="0076B7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4" name="Rectangle 21"/>
          <p:cNvSpPr>
            <a:spLocks noChangeArrowheads="1"/>
          </p:cNvSpPr>
          <p:nvPr userDrawn="1"/>
        </p:nvSpPr>
        <p:spPr bwMode="auto">
          <a:xfrm>
            <a:off x="3922713" y="9818688"/>
            <a:ext cx="355600" cy="358775"/>
          </a:xfrm>
          <a:prstGeom prst="rect">
            <a:avLst/>
          </a:prstGeom>
          <a:solidFill>
            <a:srgbClr val="654C84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5" name="Rectangle 22"/>
          <p:cNvSpPr>
            <a:spLocks noChangeArrowheads="1"/>
          </p:cNvSpPr>
          <p:nvPr userDrawn="1"/>
        </p:nvSpPr>
        <p:spPr bwMode="auto">
          <a:xfrm>
            <a:off x="4387850" y="9818688"/>
            <a:ext cx="354013" cy="358775"/>
          </a:xfrm>
          <a:prstGeom prst="rect">
            <a:avLst/>
          </a:prstGeom>
          <a:solidFill>
            <a:srgbClr val="535087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6" name="Rectangle 23"/>
          <p:cNvSpPr>
            <a:spLocks noChangeArrowheads="1"/>
          </p:cNvSpPr>
          <p:nvPr userDrawn="1"/>
        </p:nvSpPr>
        <p:spPr bwMode="auto">
          <a:xfrm>
            <a:off x="4845050" y="9818688"/>
            <a:ext cx="354013" cy="358775"/>
          </a:xfrm>
          <a:prstGeom prst="rect">
            <a:avLst/>
          </a:prstGeom>
          <a:solidFill>
            <a:srgbClr val="4972A1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7" name="Rectangle 24"/>
          <p:cNvSpPr>
            <a:spLocks noChangeArrowheads="1"/>
          </p:cNvSpPr>
          <p:nvPr userDrawn="1"/>
        </p:nvSpPr>
        <p:spPr bwMode="auto">
          <a:xfrm>
            <a:off x="5308600" y="9818688"/>
            <a:ext cx="355600" cy="358775"/>
          </a:xfrm>
          <a:prstGeom prst="rect">
            <a:avLst/>
          </a:prstGeom>
          <a:solidFill>
            <a:srgbClr val="7891A2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8" name="Rectangle 25"/>
          <p:cNvSpPr>
            <a:spLocks noChangeArrowheads="1"/>
          </p:cNvSpPr>
          <p:nvPr userDrawn="1"/>
        </p:nvSpPr>
        <p:spPr bwMode="auto">
          <a:xfrm>
            <a:off x="5761038" y="9818688"/>
            <a:ext cx="355600" cy="358775"/>
          </a:xfrm>
          <a:prstGeom prst="rect">
            <a:avLst/>
          </a:prstGeom>
          <a:solidFill>
            <a:srgbClr val="97C667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sp>
        <p:nvSpPr>
          <p:cNvPr id="19" name="Rectangle 26"/>
          <p:cNvSpPr>
            <a:spLocks noChangeArrowheads="1"/>
          </p:cNvSpPr>
          <p:nvPr userDrawn="1"/>
        </p:nvSpPr>
        <p:spPr bwMode="auto">
          <a:xfrm>
            <a:off x="6249988" y="9818688"/>
            <a:ext cx="354012" cy="358775"/>
          </a:xfrm>
          <a:prstGeom prst="rect">
            <a:avLst/>
          </a:prstGeom>
          <a:solidFill>
            <a:srgbClr val="CCB8AC"/>
          </a:solidFill>
          <a:ln>
            <a:noFill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  <a:extLst/>
        </p:spPr>
        <p:txBody>
          <a:bodyPr lIns="90175" tIns="45089" rIns="90175" bIns="45089" anchor="ctr"/>
          <a:lstStyle/>
          <a:p>
            <a:pPr algn="ctr">
              <a:defRPr/>
            </a:pPr>
            <a:endParaRPr lang="en-US" altLang="zh-CN">
              <a:solidFill>
                <a:srgbClr val="FFD95C"/>
              </a:solidFill>
              <a:latin typeface="+mn-lt"/>
              <a:ea typeface="+mn-ea"/>
            </a:endParaRPr>
          </a:p>
        </p:txBody>
      </p:sp>
      <p:cxnSp>
        <p:nvCxnSpPr>
          <p:cNvPr id="20" name="Straight Connector 28"/>
          <p:cNvCxnSpPr>
            <a:cxnSpLocks noChangeShapeType="1"/>
          </p:cNvCxnSpPr>
          <p:nvPr userDrawn="1"/>
        </p:nvCxnSpPr>
        <p:spPr bwMode="auto">
          <a:xfrm>
            <a:off x="992188" y="-406400"/>
            <a:ext cx="0" cy="369887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pic>
        <p:nvPicPr>
          <p:cNvPr id="1040" name="Picture 29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92188" y="3175"/>
            <a:ext cx="1241425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Straight Connector 34"/>
          <p:cNvCxnSpPr>
            <a:cxnSpLocks noChangeShapeType="1"/>
          </p:cNvCxnSpPr>
          <p:nvPr userDrawn="1"/>
        </p:nvCxnSpPr>
        <p:spPr bwMode="auto">
          <a:xfrm>
            <a:off x="992188" y="9601200"/>
            <a:ext cx="0" cy="384175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3" name="Straight Connector 38"/>
          <p:cNvCxnSpPr>
            <a:cxnSpLocks noChangeShapeType="1"/>
          </p:cNvCxnSpPr>
          <p:nvPr userDrawn="1"/>
        </p:nvCxnSpPr>
        <p:spPr bwMode="auto">
          <a:xfrm rot="5400000">
            <a:off x="-184944" y="1046956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4" name="Straight Connector 39"/>
          <p:cNvCxnSpPr>
            <a:cxnSpLocks noChangeShapeType="1"/>
          </p:cNvCxnSpPr>
          <p:nvPr userDrawn="1"/>
        </p:nvCxnSpPr>
        <p:spPr bwMode="auto">
          <a:xfrm rot="5400000">
            <a:off x="12986544" y="1018381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5" name="Straight Connector 41"/>
          <p:cNvCxnSpPr>
            <a:cxnSpLocks noChangeShapeType="1"/>
          </p:cNvCxnSpPr>
          <p:nvPr userDrawn="1"/>
        </p:nvCxnSpPr>
        <p:spPr bwMode="auto">
          <a:xfrm rot="5400000">
            <a:off x="-184944" y="8238331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6" name="Straight Connector 42"/>
          <p:cNvCxnSpPr>
            <a:cxnSpLocks noChangeShapeType="1"/>
          </p:cNvCxnSpPr>
          <p:nvPr userDrawn="1"/>
        </p:nvCxnSpPr>
        <p:spPr bwMode="auto">
          <a:xfrm rot="5400000">
            <a:off x="12986544" y="8238331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7" name="Straight Connector 43"/>
          <p:cNvCxnSpPr>
            <a:cxnSpLocks noChangeShapeType="1"/>
          </p:cNvCxnSpPr>
          <p:nvPr userDrawn="1"/>
        </p:nvCxnSpPr>
        <p:spPr bwMode="auto">
          <a:xfrm>
            <a:off x="11863388" y="-406400"/>
            <a:ext cx="0" cy="369887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8" name="Straight Connector 44"/>
          <p:cNvCxnSpPr>
            <a:cxnSpLocks noChangeShapeType="1"/>
          </p:cNvCxnSpPr>
          <p:nvPr userDrawn="1"/>
        </p:nvCxnSpPr>
        <p:spPr bwMode="auto">
          <a:xfrm>
            <a:off x="11863388" y="9601200"/>
            <a:ext cx="0" cy="384175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29" name="Straight Connector 48"/>
          <p:cNvCxnSpPr>
            <a:cxnSpLocks noChangeShapeType="1"/>
          </p:cNvCxnSpPr>
          <p:nvPr userDrawn="1"/>
        </p:nvCxnSpPr>
        <p:spPr bwMode="auto">
          <a:xfrm rot="5400000">
            <a:off x="-184944" y="1477169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0" name="Straight Connector 49"/>
          <p:cNvCxnSpPr>
            <a:cxnSpLocks noChangeShapeType="1"/>
          </p:cNvCxnSpPr>
          <p:nvPr userDrawn="1"/>
        </p:nvCxnSpPr>
        <p:spPr bwMode="auto">
          <a:xfrm rot="5400000">
            <a:off x="12986544" y="1450181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1" name="Straight Connector 50"/>
          <p:cNvCxnSpPr>
            <a:cxnSpLocks noChangeShapeType="1"/>
          </p:cNvCxnSpPr>
          <p:nvPr userDrawn="1"/>
        </p:nvCxnSpPr>
        <p:spPr bwMode="auto">
          <a:xfrm rot="5400000">
            <a:off x="-184944" y="2721769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2" name="Straight Connector 51"/>
          <p:cNvCxnSpPr>
            <a:cxnSpLocks noChangeShapeType="1"/>
          </p:cNvCxnSpPr>
          <p:nvPr userDrawn="1"/>
        </p:nvCxnSpPr>
        <p:spPr bwMode="auto">
          <a:xfrm rot="5400000">
            <a:off x="12986544" y="2721769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3" name="Straight Connector 63"/>
          <p:cNvCxnSpPr>
            <a:cxnSpLocks noChangeShapeType="1"/>
          </p:cNvCxnSpPr>
          <p:nvPr userDrawn="1"/>
        </p:nvCxnSpPr>
        <p:spPr bwMode="auto">
          <a:xfrm>
            <a:off x="433388" y="-406400"/>
            <a:ext cx="0" cy="369887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4" name="Straight Connector 64"/>
          <p:cNvCxnSpPr>
            <a:cxnSpLocks noChangeShapeType="1"/>
          </p:cNvCxnSpPr>
          <p:nvPr userDrawn="1"/>
        </p:nvCxnSpPr>
        <p:spPr bwMode="auto">
          <a:xfrm rot="5400000">
            <a:off x="-184944" y="3151981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5" name="Straight Connector 65"/>
          <p:cNvCxnSpPr>
            <a:cxnSpLocks noChangeShapeType="1"/>
          </p:cNvCxnSpPr>
          <p:nvPr userDrawn="1"/>
        </p:nvCxnSpPr>
        <p:spPr bwMode="auto">
          <a:xfrm rot="5400000">
            <a:off x="12986544" y="3151981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6" name="Straight Connector 66"/>
          <p:cNvCxnSpPr>
            <a:cxnSpLocks noChangeShapeType="1"/>
          </p:cNvCxnSpPr>
          <p:nvPr userDrawn="1"/>
        </p:nvCxnSpPr>
        <p:spPr bwMode="auto">
          <a:xfrm rot="5400000">
            <a:off x="-184944" y="8986044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7" name="Straight Connector 67"/>
          <p:cNvCxnSpPr>
            <a:cxnSpLocks noChangeShapeType="1"/>
          </p:cNvCxnSpPr>
          <p:nvPr userDrawn="1"/>
        </p:nvCxnSpPr>
        <p:spPr bwMode="auto">
          <a:xfrm rot="5400000">
            <a:off x="12986544" y="8986044"/>
            <a:ext cx="0" cy="369888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8" name="Straight Connector 68"/>
          <p:cNvCxnSpPr>
            <a:cxnSpLocks noChangeShapeType="1"/>
          </p:cNvCxnSpPr>
          <p:nvPr userDrawn="1"/>
        </p:nvCxnSpPr>
        <p:spPr bwMode="auto">
          <a:xfrm>
            <a:off x="433388" y="9601200"/>
            <a:ext cx="0" cy="384175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39" name="Straight Connector 69"/>
          <p:cNvCxnSpPr>
            <a:cxnSpLocks noChangeShapeType="1"/>
          </p:cNvCxnSpPr>
          <p:nvPr userDrawn="1"/>
        </p:nvCxnSpPr>
        <p:spPr bwMode="auto">
          <a:xfrm>
            <a:off x="12372975" y="9601200"/>
            <a:ext cx="0" cy="384175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40" name="Straight Connector 70"/>
          <p:cNvCxnSpPr>
            <a:cxnSpLocks noChangeShapeType="1"/>
          </p:cNvCxnSpPr>
          <p:nvPr userDrawn="1"/>
        </p:nvCxnSpPr>
        <p:spPr bwMode="auto">
          <a:xfrm>
            <a:off x="12372975" y="-406400"/>
            <a:ext cx="0" cy="369887"/>
          </a:xfrm>
          <a:prstGeom prst="line">
            <a:avLst/>
          </a:prstGeom>
          <a:noFill/>
          <a:ln w="25400">
            <a:solidFill>
              <a:srgbClr val="E5E5E5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/>
        </p:spPr>
      </p:cxnSp>
      <p:cxnSp>
        <p:nvCxnSpPr>
          <p:cNvPr id="41" name="Straight Connector 73"/>
          <p:cNvCxnSpPr/>
          <p:nvPr userDrawn="1"/>
        </p:nvCxnSpPr>
        <p:spPr>
          <a:xfrm>
            <a:off x="11599863" y="-36513"/>
            <a:ext cx="0" cy="1111251"/>
          </a:xfrm>
          <a:prstGeom prst="line">
            <a:avLst/>
          </a:prstGeom>
          <a:ln w="6350" cmpd="sng">
            <a:solidFill>
              <a:srgbClr val="0076B8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 userDrawn="1"/>
        </p:nvSpPr>
        <p:spPr>
          <a:xfrm>
            <a:off x="11628438" y="606425"/>
            <a:ext cx="619125" cy="242888"/>
          </a:xfrm>
          <a:prstGeom prst="rect">
            <a:avLst/>
          </a:prstGeom>
          <a:noFill/>
        </p:spPr>
        <p:txBody>
          <a:bodyPr lIns="90175" tIns="45089" rIns="90175" bIns="45089">
            <a:spAutoFit/>
          </a:bodyPr>
          <a:lstStyle>
            <a:lvl1pPr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fontAlgn="base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fontAlgn="base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fontAlgn="base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fontAlgn="base">
              <a:spcBef>
                <a:spcPct val="0"/>
              </a:spcBef>
              <a:spcAft>
                <a:spcPct val="0"/>
              </a:spcAft>
              <a:defRPr kumimoji="1"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defRPr/>
            </a:pPr>
            <a:fld id="{18C86D00-B0F7-4795-B24B-BE0AC8F36B0D}" type="slidenum">
              <a:rPr kumimoji="0" lang="en-US" altLang="zh-CN" sz="1000" smtClean="0">
                <a:solidFill>
                  <a:srgbClr val="7F7F7F"/>
                </a:solidFill>
                <a:latin typeface="ClanOT-WideBook" charset="-122"/>
                <a:ea typeface="ClanOT-WideBook" charset="-122"/>
              </a:rPr>
              <a:pPr>
                <a:defRPr/>
              </a:pPr>
              <a:t>‹#›</a:t>
            </a:fld>
            <a:endParaRPr kumimoji="0" lang="en-US" altLang="zh-CN" sz="1000" smtClean="0">
              <a:solidFill>
                <a:srgbClr val="7F7F7F"/>
              </a:solidFill>
              <a:latin typeface="ClanOT-WideBook" charset="-122"/>
              <a:ea typeface="ClanOT-WideBook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1" r:id="rId2"/>
    <p:sldLayoutId id="2147484060" r:id="rId3"/>
    <p:sldLayoutId id="2147484062" r:id="rId4"/>
    <p:sldLayoutId id="2147484063" r:id="rId5"/>
    <p:sldLayoutId id="2147484064" r:id="rId6"/>
  </p:sldLayoutIdLst>
  <p:timing>
    <p:tnLst>
      <p:par>
        <p:cTn id="1" dur="indefinite" restart="never" nodeType="tmRoot"/>
      </p:par>
    </p:tnLst>
  </p:timing>
  <p:txStyles>
    <p:titleStyle>
      <a:lvl1pPr algn="ctr" defTabSz="1279525" rtl="0" eaLnBrk="0" fontAlgn="base" hangingPunct="0">
        <a:spcBef>
          <a:spcPct val="0"/>
        </a:spcBef>
        <a:spcAft>
          <a:spcPct val="0"/>
        </a:spcAft>
        <a:defRPr kumimoji="1" sz="6100" kern="1200">
          <a:solidFill>
            <a:schemeClr val="tx1"/>
          </a:solidFill>
          <a:latin typeface="+mj-lt"/>
          <a:ea typeface="宋体" charset="0"/>
          <a:cs typeface="+mj-cs"/>
        </a:defRPr>
      </a:lvl1pPr>
      <a:lvl2pPr algn="ctr" defTabSz="1279525" rtl="0" eaLnBrk="0" fontAlgn="base" hangingPunct="0">
        <a:spcBef>
          <a:spcPct val="0"/>
        </a:spcBef>
        <a:spcAft>
          <a:spcPct val="0"/>
        </a:spcAft>
        <a:defRPr kumimoji="1" sz="6100">
          <a:solidFill>
            <a:schemeClr val="tx1"/>
          </a:solidFill>
          <a:latin typeface="Calibri" pitchFamily="34" charset="0"/>
          <a:ea typeface="宋体" charset="0"/>
        </a:defRPr>
      </a:lvl2pPr>
      <a:lvl3pPr algn="ctr" defTabSz="1279525" rtl="0" eaLnBrk="0" fontAlgn="base" hangingPunct="0">
        <a:spcBef>
          <a:spcPct val="0"/>
        </a:spcBef>
        <a:spcAft>
          <a:spcPct val="0"/>
        </a:spcAft>
        <a:defRPr kumimoji="1" sz="6100">
          <a:solidFill>
            <a:schemeClr val="tx1"/>
          </a:solidFill>
          <a:latin typeface="Calibri" pitchFamily="34" charset="0"/>
          <a:ea typeface="宋体" charset="0"/>
        </a:defRPr>
      </a:lvl3pPr>
      <a:lvl4pPr algn="ctr" defTabSz="1279525" rtl="0" eaLnBrk="0" fontAlgn="base" hangingPunct="0">
        <a:spcBef>
          <a:spcPct val="0"/>
        </a:spcBef>
        <a:spcAft>
          <a:spcPct val="0"/>
        </a:spcAft>
        <a:defRPr kumimoji="1" sz="6100">
          <a:solidFill>
            <a:schemeClr val="tx1"/>
          </a:solidFill>
          <a:latin typeface="Calibri" pitchFamily="34" charset="0"/>
          <a:ea typeface="宋体" charset="0"/>
        </a:defRPr>
      </a:lvl4pPr>
      <a:lvl5pPr algn="ctr" defTabSz="1279525" rtl="0" eaLnBrk="0" fontAlgn="base" hangingPunct="0">
        <a:spcBef>
          <a:spcPct val="0"/>
        </a:spcBef>
        <a:spcAft>
          <a:spcPct val="0"/>
        </a:spcAft>
        <a:defRPr kumimoji="1" sz="6100">
          <a:solidFill>
            <a:schemeClr val="tx1"/>
          </a:solidFill>
          <a:latin typeface="Calibri" pitchFamily="34" charset="0"/>
          <a:ea typeface="宋体" charset="0"/>
        </a:defRPr>
      </a:lvl5pPr>
      <a:lvl6pPr marL="457200" algn="ctr" defTabSz="1279525" rtl="0" fontAlgn="base"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" pitchFamily="34" charset="0"/>
        </a:defRPr>
      </a:lvl6pPr>
      <a:lvl7pPr marL="914400" algn="ctr" defTabSz="1279525" rtl="0" fontAlgn="base"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" pitchFamily="34" charset="0"/>
        </a:defRPr>
      </a:lvl7pPr>
      <a:lvl8pPr marL="1371600" algn="ctr" defTabSz="1279525" rtl="0" fontAlgn="base"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" pitchFamily="34" charset="0"/>
        </a:defRPr>
      </a:lvl8pPr>
      <a:lvl9pPr marL="1828800" algn="ctr" defTabSz="1279525" rtl="0" fontAlgn="base">
        <a:spcBef>
          <a:spcPct val="0"/>
        </a:spcBef>
        <a:spcAft>
          <a:spcPct val="0"/>
        </a:spcAft>
        <a:defRPr sz="6100">
          <a:solidFill>
            <a:schemeClr val="tx1"/>
          </a:solidFill>
          <a:latin typeface="Calibri" pitchFamily="34" charset="0"/>
        </a:defRPr>
      </a:lvl9pPr>
    </p:titleStyle>
    <p:bodyStyle>
      <a:lvl1pPr marL="479425" indent="-479425" algn="l" defTabSz="127952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4400" kern="1200">
          <a:solidFill>
            <a:schemeClr val="tx1"/>
          </a:solidFill>
          <a:latin typeface="+mn-lt"/>
          <a:ea typeface="宋体" charset="0"/>
          <a:cs typeface="+mn-cs"/>
        </a:defRPr>
      </a:lvl1pPr>
      <a:lvl2pPr marL="1039813" indent="-398463" algn="l" defTabSz="127952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3900" kern="1200">
          <a:solidFill>
            <a:schemeClr val="tx1"/>
          </a:solidFill>
          <a:latin typeface="+mn-lt"/>
          <a:ea typeface="宋体" charset="0"/>
          <a:cs typeface="+mn-cs"/>
        </a:defRPr>
      </a:lvl2pPr>
      <a:lvl3pPr marL="1598613" indent="-319088" algn="l" defTabSz="127952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400" kern="1200">
          <a:solidFill>
            <a:schemeClr val="tx1"/>
          </a:solidFill>
          <a:latin typeface="+mn-lt"/>
          <a:ea typeface="宋体" charset="0"/>
          <a:cs typeface="+mn-cs"/>
        </a:defRPr>
      </a:lvl3pPr>
      <a:lvl4pPr marL="2238375" indent="-319088" algn="l" defTabSz="127952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宋体" charset="0"/>
          <a:cs typeface="+mn-cs"/>
        </a:defRPr>
      </a:lvl4pPr>
      <a:lvl5pPr marL="2879725" indent="-319088" algn="l" defTabSz="1279525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800" kern="1200">
          <a:solidFill>
            <a:schemeClr val="tx1"/>
          </a:solidFill>
          <a:latin typeface="+mn-lt"/>
          <a:ea typeface="宋体" charset="0"/>
          <a:cs typeface="+mn-cs"/>
        </a:defRPr>
      </a:lvl5pPr>
      <a:lvl6pPr marL="3519781" indent="-319981" algn="l" defTabSz="12799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59743" indent="-319981" algn="l" defTabSz="12799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703" indent="-319981" algn="l" defTabSz="12799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39662" indent="-319981" algn="l" defTabSz="12799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960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79920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19880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559842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199800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39761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79722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119681" algn="l" defTabSz="12799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2.27/mediawikis/index.php/&#36719;&#20214;&#21487;&#38752;&#24615;&#35774;&#35745;&#25351;&#21335;" TargetMode="External"/><Relationship Id="rId2" Type="http://schemas.openxmlformats.org/officeDocument/2006/relationships/hyperlink" Target="http://www.techug.com/java-developer" TargetMode="Externa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pacing.psd"/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35671" t="8" r="3410" b="-8"/>
          <a:stretch>
            <a:fillRect/>
          </a:stretch>
        </p:blipFill>
        <p:spPr>
          <a:xfrm>
            <a:off x="0" y="0"/>
            <a:ext cx="12801600" cy="9601200"/>
          </a:xfrm>
        </p:spPr>
      </p:pic>
      <p:pic>
        <p:nvPicPr>
          <p:cNvPr id="614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98550" y="0"/>
            <a:ext cx="1771650" cy="177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/>
          </a:p>
        </p:txBody>
      </p:sp>
      <p:sp>
        <p:nvSpPr>
          <p:cNvPr id="6149" name="TextBox 4"/>
          <p:cNvSpPr txBox="1">
            <a:spLocks noChangeArrowheads="1"/>
          </p:cNvSpPr>
          <p:nvPr/>
        </p:nvSpPr>
        <p:spPr bwMode="auto">
          <a:xfrm>
            <a:off x="4095750" y="3752850"/>
            <a:ext cx="465383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5400" b="1" dirty="0" smtClean="0"/>
              <a:t>Java Bug</a:t>
            </a:r>
            <a:r>
              <a:rPr lang="zh-CN" altLang="en-US" sz="5400" b="1" dirty="0" smtClean="0"/>
              <a:t>模式</a:t>
            </a:r>
            <a:endParaRPr lang="en-US" altLang="zh-CN" sz="3600" b="1" dirty="0"/>
          </a:p>
        </p:txBody>
      </p:sp>
      <p:sp>
        <p:nvSpPr>
          <p:cNvPr id="6150" name="TextBox 5"/>
          <p:cNvSpPr txBox="1">
            <a:spLocks noChangeArrowheads="1"/>
          </p:cNvSpPr>
          <p:nvPr/>
        </p:nvSpPr>
        <p:spPr bwMode="auto">
          <a:xfrm>
            <a:off x="4076700" y="6256526"/>
            <a:ext cx="2305439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1" dirty="0" smtClean="0"/>
              <a:t>刘少玲</a:t>
            </a:r>
            <a:endParaRPr lang="en-US" altLang="zh-CN" b="1" dirty="0" smtClean="0"/>
          </a:p>
          <a:p>
            <a:pPr eaLnBrk="1" hangingPunct="1"/>
            <a:r>
              <a:rPr lang="en-US" altLang="zh-CN" b="1" dirty="0" smtClean="0"/>
              <a:t>2017</a:t>
            </a:r>
            <a:r>
              <a:rPr lang="zh-CN" altLang="en-US" b="1" dirty="0" smtClean="0"/>
              <a:t>年</a:t>
            </a:r>
            <a:r>
              <a:rPr lang="en-US" altLang="zh-CN" b="1" dirty="0" smtClean="0"/>
              <a:t>8</a:t>
            </a:r>
            <a:r>
              <a:rPr lang="zh-CN" altLang="en-US" b="1" dirty="0" smtClean="0"/>
              <a:t>月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日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4"/>
          <p:cNvSpPr>
            <a:spLocks noGrp="1"/>
          </p:cNvSpPr>
          <p:nvPr>
            <p:ph type="title"/>
          </p:nvPr>
        </p:nvSpPr>
        <p:spPr>
          <a:xfrm>
            <a:off x="1021970" y="1425540"/>
            <a:ext cx="8572560" cy="642918"/>
          </a:xfrm>
        </p:spPr>
        <p:txBody>
          <a:bodyPr/>
          <a:lstStyle/>
          <a:p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模式</a:t>
            </a:r>
            <a:endParaRPr lang="zh-CN" altLang="en-US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379160" y="2627923"/>
            <a:ext cx="3741730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是如何制造出来的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ü"/>
            </a:pPr>
            <a:r>
              <a:rPr lang="en-US" altLang="zh-CN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INTbug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如何产生的</a:t>
            </a:r>
          </a:p>
          <a:p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79160" y="4772876"/>
            <a:ext cx="4447051" cy="1692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最常见的错误模式，不求全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ü"/>
            </a:pP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学习错误模式的意义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808140" y="3864881"/>
            <a:ext cx="87029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执行路径、执行顺序、运行环境的差异、数据</a:t>
            </a:r>
            <a:r>
              <a:rPr lang="en-US" altLang="zh-CN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状态的差异</a:t>
            </a:r>
            <a:endParaRPr lang="zh-CN" altLang="en-US" sz="2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06265" y="6020704"/>
            <a:ext cx="8702991" cy="1556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提高预防典型</a:t>
            </a:r>
            <a:r>
              <a:rPr lang="en-US" altLang="zh-CN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的能力</a:t>
            </a: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代码走读</a:t>
            </a:r>
          </a:p>
          <a:p>
            <a:pPr>
              <a:lnSpc>
                <a:spcPct val="150000"/>
              </a:lnSpc>
            </a:pP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处理</a:t>
            </a:r>
            <a:r>
              <a:rPr lang="en-US" altLang="zh-CN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时，提升对代码的敏感度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4"/>
          <p:cNvSpPr>
            <a:spLocks noGrp="1"/>
          </p:cNvSpPr>
          <p:nvPr>
            <p:ph type="title"/>
          </p:nvPr>
        </p:nvSpPr>
        <p:spPr>
          <a:xfrm>
            <a:off x="1021970" y="1425540"/>
            <a:ext cx="8572560" cy="642918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理解软件系统</a:t>
            </a:r>
            <a:endParaRPr lang="zh-CN" altLang="en-US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53535" y="5377543"/>
            <a:ext cx="11622092" cy="36009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的传播路径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依赖关系可以是：服务器数据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数据库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用户输入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外部模块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系统框架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器件等，这些是可能失效的。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通过依赖路径传递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对传入数据的校验，以及失效后的后果预估和处理。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截断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的传播路径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75761" y="2660074"/>
            <a:ext cx="1888177" cy="950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模块</a:t>
            </a:r>
            <a:r>
              <a:rPr lang="en-US" altLang="zh-CN" b="1" dirty="0" smtClean="0"/>
              <a:t>1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153535" y="2660069"/>
            <a:ext cx="1888177" cy="95002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/>
              <a:t>模块</a:t>
            </a:r>
            <a:r>
              <a:rPr lang="en-US" altLang="zh-CN" b="1" dirty="0" smtClean="0"/>
              <a:t>2</a:t>
            </a:r>
            <a:endParaRPr lang="zh-CN" altLang="en-US" b="1" dirty="0"/>
          </a:p>
        </p:txBody>
      </p:sp>
      <p:sp>
        <p:nvSpPr>
          <p:cNvPr id="11" name="椭圆 10"/>
          <p:cNvSpPr/>
          <p:nvPr/>
        </p:nvSpPr>
        <p:spPr>
          <a:xfrm>
            <a:off x="8098971" y="2553194"/>
            <a:ext cx="2125683" cy="116378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网络</a:t>
            </a:r>
            <a:endParaRPr lang="zh-CN" alt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868886" y="4213762"/>
            <a:ext cx="2125683" cy="116378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数据库文件</a:t>
            </a:r>
            <a:endParaRPr lang="zh-CN" alt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直接箭头连接符 13"/>
          <p:cNvCxnSpPr>
            <a:stCxn id="5" idx="3"/>
            <a:endCxn id="11" idx="2"/>
          </p:cNvCxnSpPr>
          <p:nvPr/>
        </p:nvCxnSpPr>
        <p:spPr>
          <a:xfrm flipV="1">
            <a:off x="6863938" y="3135085"/>
            <a:ext cx="1235033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5" idx="2"/>
            <a:endCxn id="12" idx="0"/>
          </p:cNvCxnSpPr>
          <p:nvPr/>
        </p:nvCxnSpPr>
        <p:spPr>
          <a:xfrm rot="16200000" flipH="1">
            <a:off x="5623958" y="3905992"/>
            <a:ext cx="603662" cy="118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53944" y="2671949"/>
            <a:ext cx="8515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下载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9" name="直接箭头连接符 18"/>
          <p:cNvCxnSpPr>
            <a:stCxn id="6" idx="3"/>
            <a:endCxn id="5" idx="1"/>
          </p:cNvCxnSpPr>
          <p:nvPr/>
        </p:nvCxnSpPr>
        <p:spPr>
          <a:xfrm>
            <a:off x="3041712" y="3135082"/>
            <a:ext cx="1934049" cy="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22564" y="2648194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调用服务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19850" y="3645725"/>
            <a:ext cx="8515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读写</a:t>
            </a:r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4"/>
          <p:cNvSpPr>
            <a:spLocks noGrp="1"/>
          </p:cNvSpPr>
          <p:nvPr>
            <p:ph type="title"/>
          </p:nvPr>
        </p:nvSpPr>
        <p:spPr>
          <a:xfrm>
            <a:off x="1021970" y="1425540"/>
            <a:ext cx="8572560" cy="642918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重复代码片段</a:t>
            </a:r>
            <a:endParaRPr lang="zh-CN" altLang="en-US" b="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65410" y="2068458"/>
            <a:ext cx="9123010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症状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修正问题以后，代码中的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仍然存在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代码段存在多个副本，仅修正了其中部分副本中的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，其它未修正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8535" y="3361120"/>
            <a:ext cx="9963415" cy="7017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mCache.mMap.put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(key, value);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mCache.mChanged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true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</p:txBody>
      </p:sp>
      <p:sp>
        <p:nvSpPr>
          <p:cNvPr id="9" name="矩形 8"/>
          <p:cNvSpPr/>
          <p:nvPr/>
        </p:nvSpPr>
        <p:spPr>
          <a:xfrm>
            <a:off x="1438535" y="7785318"/>
            <a:ext cx="6400800" cy="156145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分离出公共代码。避免代码的复制和粘贴。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配给成员变量的访问级别应该尽可能的低。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38535" y="6409316"/>
            <a:ext cx="9963415" cy="13665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add()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mMap.put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(key, value);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mChanged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true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18" name="矩形 17"/>
          <p:cNvSpPr/>
          <p:nvPr/>
        </p:nvSpPr>
        <p:spPr>
          <a:xfrm>
            <a:off x="1340160" y="4239491"/>
            <a:ext cx="10107254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这个代码片段在多个地方出现。</a:t>
            </a:r>
            <a:endParaRPr lang="en-US" altLang="zh-CN" sz="18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有些地方只调用 </a:t>
            </a:r>
            <a:r>
              <a:rPr lang="en-US" altLang="zh-CN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mCache.mMap.put</a:t>
            </a:r>
            <a:r>
              <a:rPr lang="en-US" altLang="zh-CN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(…)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，而未调用</a:t>
            </a:r>
            <a:r>
              <a:rPr lang="en-US" altLang="zh-CN" sz="1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mCache.mChanged</a:t>
            </a:r>
            <a:r>
              <a:rPr lang="en-US" altLang="zh-CN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= true</a:t>
            </a:r>
            <a:r>
              <a:rPr lang="zh-CN" alt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，导致异常。</a:t>
            </a:r>
            <a:endParaRPr lang="en-US" altLang="zh-CN" sz="1800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解决方法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提取公共代码；将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mMap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mChanged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定义为私有变量，阻止外部直接访问。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51890" y="3105958"/>
            <a:ext cx="8692737" cy="7017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Bitmap </a:t>
            </a:r>
            <a:r>
              <a:rPr kumimoji="1" lang="en-US" altLang="zh-CN" sz="1800" b="1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bitmap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Bitmap.createBitmap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width =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bitmap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.getWidth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</p:txBody>
      </p:sp>
      <p:sp>
        <p:nvSpPr>
          <p:cNvPr id="6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空指针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65410" y="2246685"/>
            <a:ext cx="7040710" cy="621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使用某个函数的返回值，而该函数有可能返回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null</a:t>
            </a:r>
          </a:p>
        </p:txBody>
      </p:sp>
      <p:sp>
        <p:nvSpPr>
          <p:cNvPr id="10" name="矩形 9"/>
          <p:cNvSpPr/>
          <p:nvPr/>
        </p:nvSpPr>
        <p:spPr>
          <a:xfrm>
            <a:off x="1165410" y="4370119"/>
            <a:ext cx="7553671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如果不能肯定该函数不会返回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null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的话，要加判空处理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08151" y="3371615"/>
            <a:ext cx="8692737" cy="10341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String </a:t>
            </a:r>
            <a:r>
              <a:rPr kumimoji="1" lang="en-US" altLang="zh-CN" sz="1800" b="1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state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intent.getStringExtra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“key”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state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.equals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“ready”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0461" y="6154990"/>
            <a:ext cx="8692737" cy="7017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</a:t>
            </a:r>
            <a:r>
              <a:rPr kumimoji="1" lang="en-US" altLang="zh-CN" sz="1800" spc="148" dirty="0" err="1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ready”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.equals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b="1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state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空指针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246685"/>
            <a:ext cx="5540299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直接使用传入的参数，没有检查参数的有效性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65410" y="5046994"/>
            <a:ext cx="448392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、检查传入的参数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、字符串比较时，将常量写在前面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空指针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246685"/>
            <a:ext cx="9462847" cy="1615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成员变量可能没有赋值。因为仅在某些条件下出现空指针，因此不易测试出来。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如果一个人写变量的赋值，另一个人写使用变量的代码，更容易发生问题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65410" y="7125119"/>
            <a:ext cx="92095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、使用一个成员变量前，先检查它的初始化的地方，保证它是赋值过的。</a:t>
            </a:r>
          </a:p>
          <a:p>
            <a:pPr>
              <a:buNone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、在构造函数中，如果成员变量耗时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耗内存不多，尽可能初始化它的默认值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0461" y="3862512"/>
            <a:ext cx="8692737" cy="30285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Bitmap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mBitmap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onResume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mBitmap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…;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onClick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mBitmap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.setAlpha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(0);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空指针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246685"/>
            <a:ext cx="7967246" cy="207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延迟初始化，而在初始化之前，使用了变量。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延迟的形式：显式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delay1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秒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另外一个线程处理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动画结束时处理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    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AsyncTask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处理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收到特定事件时处理 等。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52595" y="8193974"/>
            <a:ext cx="843692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使用一个成员变量前，先检查它的初始化的地方，保证它是赋值过的。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2331" y="4417617"/>
            <a:ext cx="8692737" cy="333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IService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mService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onConnected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mService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……</a:t>
            </a:r>
          </a:p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onClick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mService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空指针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246685"/>
            <a:ext cx="7972054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异步处理变量，在执行该变量的操作之前，又被别的线程赋值为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null</a:t>
            </a:r>
          </a:p>
        </p:txBody>
      </p:sp>
      <p:sp>
        <p:nvSpPr>
          <p:cNvPr id="13" name="矩形 12"/>
          <p:cNvSpPr/>
          <p:nvPr/>
        </p:nvSpPr>
        <p:spPr>
          <a:xfrm>
            <a:off x="1165410" y="7393755"/>
            <a:ext cx="736611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建议：延迟一段时间执行操作时，要重新检查变量的有效性。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2917" y="3400847"/>
            <a:ext cx="8692737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Listener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mListener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notify()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if(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mListener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==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new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Handler().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postDelayed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 ()-&gt;{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mListener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.notify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}, 1000);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空指针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246685"/>
            <a:ext cx="8023991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提前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finish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并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，会导致某些操作没执行完，引起后面空指针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65410" y="7393755"/>
            <a:ext cx="703013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插入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return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语句时，检查其下方变量的初始化及其影响。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6270" y="3455726"/>
            <a:ext cx="8692737" cy="317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BroadcastReceiver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onCreate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registerReceiver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onDestroy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unregisterReceiver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mReceiver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9452" y="3555223"/>
            <a:ext cx="3137103" cy="129573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finish();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cxnSp>
        <p:nvCxnSpPr>
          <p:cNvPr id="10" name="直接箭头连接符 9"/>
          <p:cNvCxnSpPr>
            <a:stCxn id="9" idx="1"/>
          </p:cNvCxnSpPr>
          <p:nvPr/>
        </p:nvCxnSpPr>
        <p:spPr>
          <a:xfrm rot="10800000" flipV="1">
            <a:off x="4529478" y="4203092"/>
            <a:ext cx="3519975" cy="3115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lvl="0" defTabSz="1279525" eaLnBrk="0" hangingPunct="0">
              <a:lnSpc>
                <a:spcPct val="110000"/>
              </a:lnSpc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视图不能正确显示数据状态</a:t>
            </a:r>
          </a:p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246685"/>
            <a:ext cx="10128094" cy="6186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症状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在一个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中，显示陈旧的数据状态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数据在后台发生了改变，而未通知界面更新。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或者界面未监听数据的变化。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或者缓存数据未更新。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案例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拨号界面：插双卡时显示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个呼叫按钮，插单卡时显示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个呼叫按钮。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界面应监听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SIM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卡事件，并刷新。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、用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显示数据时，评估这些数据是否是可变的。如果可变，考虑监听数据变化。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、条件性地显示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时，评估这个条件是否会发生变化，考虑监听变化。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425540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破坏性数据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2092310"/>
            <a:ext cx="10488769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症状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处理输入数据的程序，在执行某项任务时意外崩溃，而执行其它类似任务时却安好无事。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一些内部数据被破坏，可能是语法或语义上的破坏。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6698438"/>
            <a:ext cx="8888972" cy="22077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en-US" altLang="zh-CN" sz="28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如果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number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中含有单引号字符，联系人姓名中含有特殊字符，就会崩溃。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考察程序可接受的数据，尤其是字符串处理，对输入数据做检查。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3155" y="4293420"/>
            <a:ext cx="894213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resolver.delete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uri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,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</a:t>
            </a:r>
            <a:r>
              <a:rPr kumimoji="1" lang="en-US" altLang="zh-CN" sz="1800" spc="148" dirty="0" err="1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number_col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=‘”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+ </a:t>
            </a:r>
            <a:r>
              <a:rPr kumimoji="1" lang="en-US" altLang="zh-CN" sz="1800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number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+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"'"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,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3156" y="4916386"/>
            <a:ext cx="8942132" cy="16989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//</a:t>
            </a:r>
            <a:r>
              <a:rPr kumimoji="1" lang="zh-CN" altLang="en-US" sz="1800" spc="148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保存某个联系人的数据文件</a:t>
            </a:r>
            <a:endParaRPr kumimoji="1" lang="en-US" altLang="zh-CN" sz="1800" spc="148" dirty="0" smtClean="0">
              <a:solidFill>
                <a:srgbClr val="339966"/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save(String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contactName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File file =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new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File(</a:t>
            </a:r>
            <a:r>
              <a:rPr kumimoji="1" lang="en-US" altLang="zh-CN" sz="1800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contactName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3155" y="8906222"/>
            <a:ext cx="894213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resolver.delete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uri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,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</a:t>
            </a:r>
            <a:r>
              <a:rPr kumimoji="1" lang="en-US" altLang="zh-CN" sz="1800" spc="148" dirty="0" err="1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number_col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= ?”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,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new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String[] {</a:t>
            </a:r>
            <a:r>
              <a:rPr kumimoji="1" lang="en-US" altLang="zh-CN" sz="1800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number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标记位维护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1819185"/>
            <a:ext cx="10945625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症状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 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软件第一次运行没问题，多次运行后才出错。一旦出现问题后，就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100%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异常了。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某次运行过程中，设置了标志位，而下次运行时没有恢复标志位。后面就一直异常。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8253351"/>
            <a:ext cx="9070112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、标志位难以维护，不要轻易定义标志位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、记得在合适的时机标志位。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8297" y="3111847"/>
            <a:ext cx="10712738" cy="50229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boolean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mFailFlag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readData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mFailFlag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true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updateView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mView.setText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mFailFlag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?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“fail”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: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“success”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onResume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readData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updateView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解读：第一次是</a:t>
            </a:r>
            <a:r>
              <a:rPr kumimoji="1" lang="en-US" altLang="zh-CN" sz="18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ok</a:t>
            </a:r>
            <a:r>
              <a:rPr kumimoji="1" lang="zh-CN" altLang="en-US" sz="18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的，第二次呢？</a:t>
            </a:r>
            <a:endParaRPr kumimoji="1" lang="en-US" altLang="zh-CN" sz="1800" spc="148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12532" y="4438515"/>
            <a:ext cx="2780849" cy="66787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解法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1</a:t>
            </a: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：</a:t>
            </a:r>
            <a:endParaRPr kumimoji="1" lang="en-US" altLang="zh-CN" sz="1700" spc="148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mFailFlag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 = false;</a:t>
            </a:r>
          </a:p>
        </p:txBody>
      </p:sp>
      <p:cxnSp>
        <p:nvCxnSpPr>
          <p:cNvPr id="16" name="直接箭头连接符 15"/>
          <p:cNvCxnSpPr>
            <a:stCxn id="10" idx="1"/>
          </p:cNvCxnSpPr>
          <p:nvPr/>
        </p:nvCxnSpPr>
        <p:spPr>
          <a:xfrm rot="10800000" flipV="1">
            <a:off x="4493148" y="4772452"/>
            <a:ext cx="2119384" cy="2113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33166" y="6180331"/>
            <a:ext cx="4633401" cy="160967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indent="-507243" defTabSz="1279525" eaLnBrk="0" hangingPunct="0">
              <a:spcBef>
                <a:spcPct val="20000"/>
              </a:spcBef>
            </a:pP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解法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2</a:t>
            </a: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：</a:t>
            </a:r>
            <a:endParaRPr kumimoji="1" lang="en-US" altLang="zh-CN" sz="1700" spc="148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  <a:p>
            <a:pPr indent="-507243" defTabSz="1279525" eaLnBrk="0" hangingPunct="0">
              <a:spcBef>
                <a:spcPct val="20000"/>
              </a:spcBef>
            </a:pP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不定义</a:t>
            </a:r>
            <a:r>
              <a:rPr kumimoji="1" lang="en-US" altLang="zh-CN" sz="1700" spc="148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mFailFlag</a:t>
            </a: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标志位</a:t>
            </a:r>
            <a:endParaRPr kumimoji="1" lang="en-US" altLang="zh-CN" sz="1700" spc="148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  <a:p>
            <a:pPr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  <a:p>
            <a:pPr indent="-507243" defTabSz="1279525" eaLnBrk="0" hangingPunct="0">
              <a:spcBef>
                <a:spcPct val="20000"/>
              </a:spcBef>
            </a:pP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修改为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public </a:t>
            </a:r>
            <a:r>
              <a:rPr kumimoji="1" lang="en-US" altLang="zh-CN" sz="1700" spc="148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boolean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readData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()</a:t>
            </a: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 </a:t>
            </a:r>
            <a:endParaRPr kumimoji="1" lang="en-US" altLang="zh-CN" sz="1700" spc="148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  <a:p>
            <a:pPr indent="-507243" defTabSz="1279525" eaLnBrk="0" hangingPunct="0">
              <a:spcBef>
                <a:spcPct val="20000"/>
              </a:spcBef>
            </a:pP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成功返回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true</a:t>
            </a:r>
            <a:r>
              <a:rPr kumimoji="1" lang="zh-CN" altLang="en-US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，失败返回</a:t>
            </a:r>
            <a:r>
              <a:rPr kumimoji="1" lang="en-US" altLang="zh-CN" sz="1700" spc="148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fail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标记位维护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65410" y="1819185"/>
            <a:ext cx="9161482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有动画的情况下，是动画开始前对状态赋值，还是动画结束后才对状态做赋值？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6911309"/>
            <a:ext cx="7124066" cy="1615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如果第一次的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动画没有结束，又调用了一次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open()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那么就会有两个动画一起在跑，导致错误。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2910" y="2481943"/>
            <a:ext cx="8692737" cy="43581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boolean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mIsOpened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open()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mIsOpened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Animation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ani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…;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ani.addListener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onAnimationEnd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mIsOpened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true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0"/>
          </p:nvPr>
        </p:nvSpPr>
        <p:spPr>
          <a:xfrm>
            <a:off x="992370" y="2232560"/>
            <a:ext cx="10878988" cy="7089569"/>
          </a:xfrm>
        </p:spPr>
        <p:txBody>
          <a:bodyPr/>
          <a:lstStyle/>
          <a:p>
            <a:pPr defTabSz="639763">
              <a:spcBef>
                <a:spcPct val="0"/>
              </a:spcBef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定义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639763">
              <a:spcBef>
                <a:spcPct val="0"/>
              </a:spcBef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赋值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639763">
              <a:spcBef>
                <a:spcPct val="0"/>
              </a:spcBef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使用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 defTabSz="639763">
              <a:spcBef>
                <a:spcPct val="0"/>
              </a:spcBef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恢复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  <a:cs typeface="+mn-cs"/>
            </a:endParaRPr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r>
              <a:rPr lang="zh-CN" altLang="en-US" sz="2200" dirty="0" smtClean="0"/>
              <a:t>缺一不可。</a:t>
            </a: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r>
              <a:rPr lang="zh-CN" altLang="en-US" sz="2200" dirty="0" smtClean="0"/>
              <a:t>缺少</a:t>
            </a:r>
            <a:r>
              <a:rPr lang="zh-CN" altLang="en-US" sz="2200" dirty="0" smtClean="0">
                <a:solidFill>
                  <a:srgbClr val="0066FF"/>
                </a:solidFill>
              </a:rPr>
              <a:t>定义</a:t>
            </a:r>
            <a:r>
              <a:rPr lang="zh-CN" altLang="en-US" sz="2200" dirty="0" smtClean="0"/>
              <a:t>，编译不过。</a:t>
            </a:r>
            <a:endParaRPr lang="en-US" altLang="zh-CN" sz="2200" dirty="0" smtClean="0"/>
          </a:p>
          <a:p>
            <a:pPr>
              <a:buNone/>
            </a:pPr>
            <a:r>
              <a:rPr lang="zh-CN" altLang="en-US" sz="2200" dirty="0" smtClean="0"/>
              <a:t>缺少</a:t>
            </a:r>
            <a:r>
              <a:rPr lang="zh-CN" altLang="en-US" sz="2200" dirty="0" smtClean="0">
                <a:solidFill>
                  <a:srgbClr val="0066FF"/>
                </a:solidFill>
              </a:rPr>
              <a:t>赋值、使用</a:t>
            </a:r>
            <a:r>
              <a:rPr lang="zh-CN" altLang="en-US" sz="2200" dirty="0" smtClean="0"/>
              <a:t>，无用的标志位</a:t>
            </a:r>
            <a:endParaRPr lang="en-US" altLang="zh-CN" sz="2200" dirty="0" smtClean="0"/>
          </a:p>
          <a:p>
            <a:pPr>
              <a:buNone/>
            </a:pPr>
            <a:r>
              <a:rPr lang="zh-CN" altLang="en-US" sz="2200" dirty="0" smtClean="0"/>
              <a:t>缺少</a:t>
            </a:r>
            <a:r>
              <a:rPr lang="zh-CN" altLang="en-US" sz="2200" dirty="0" smtClean="0">
                <a:solidFill>
                  <a:srgbClr val="0066FF"/>
                </a:solidFill>
              </a:rPr>
              <a:t>恢复</a:t>
            </a:r>
            <a:r>
              <a:rPr lang="zh-CN" altLang="en-US" sz="2200" dirty="0" smtClean="0"/>
              <a:t>，程序运行一段时间后出现异常</a:t>
            </a: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  <a:p>
            <a:pPr>
              <a:buNone/>
            </a:pPr>
            <a:endParaRPr lang="en-US" altLang="zh-CN" sz="2200" dirty="0" smtClean="0"/>
          </a:p>
        </p:txBody>
      </p:sp>
      <p:sp>
        <p:nvSpPr>
          <p:cNvPr id="6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标记位四部曲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数据库异常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4997256"/>
            <a:ext cx="7590027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凡是数据库的操作，加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try catch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，并处理相应的异常或打印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log</a:t>
            </a:r>
            <a:endParaRPr lang="zh-CN" alt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26666" y="3185393"/>
            <a:ext cx="7954841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resolver.insert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uri,values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5027338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在操作数据库时，没有捕获数据库异常。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内存泄露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4997256"/>
            <a:ext cx="5502084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在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finally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中关闭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cursor / IO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/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媒体资源 等</a:t>
            </a: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5853525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提前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return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了，导致部分条件下没有释放资源。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74404" y="3185837"/>
            <a:ext cx="8692737" cy="16096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Cursor cursor =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resolver.query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(cursor !=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cursor.close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591" y="2307668"/>
            <a:ext cx="3861470" cy="98180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cxnSp>
        <p:nvCxnSpPr>
          <p:cNvPr id="10" name="直接箭头连接符 9"/>
          <p:cNvCxnSpPr>
            <a:stCxn id="9" idx="2"/>
          </p:cNvCxnSpPr>
          <p:nvPr/>
        </p:nvCxnSpPr>
        <p:spPr>
          <a:xfrm rot="5400000">
            <a:off x="7371117" y="1499762"/>
            <a:ext cx="237496" cy="38169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74404" y="6151418"/>
            <a:ext cx="8692737" cy="2865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Cursor cursor =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try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cursor =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resolver.query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finally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if(cursor !=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cursor.close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内存泄露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4997256"/>
            <a:ext cx="6518836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在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onDestroy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时，调用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quit()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退出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HandlerThread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8180445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症状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每进入一次界面，再退出，就会多出一个线程没退出。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一般的线程在执行完任务后，会自动退出，所以不用主动释放线程。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使用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HandlerThread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，会创建一个线程来处理消息队列。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除非主动调用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quit()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，否则是不会退出的。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内存泄露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5890161"/>
            <a:ext cx="10906640" cy="207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在需要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context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作为参数时，尽量传递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ApplictionContext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但对于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binder / Service / provider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的情况，比较特殊，它们可能会先于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application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起来，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导致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applicationContext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为空。注意规避空指针问题。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9797875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症状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第一次进入界面，退出后，内存没有下降到最低点。但内存不会一直增长到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OOM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在一个单例中，引用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Activity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，导致内存泄漏。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6903" y="4083343"/>
            <a:ext cx="8692737" cy="16096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class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extends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Activity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onCreate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WallPaperManager.getInstance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this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内存泄露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31660" y="6977585"/>
            <a:ext cx="10998524" cy="2492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单例类，一旦初始化后，是不会释放的。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关键问题是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有一个指针指向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Activity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。如果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释放不掉，那么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Activity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也无法释放。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检点单例中的对象，注意释放。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1439350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把一个对象传给单例，而单例将这个对象保存起来，并且最终没有释放的话，就会引起内存泄漏。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8150" y="3021514"/>
            <a:ext cx="10450302" cy="38071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class 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Singleton{  // </a:t>
            </a:r>
            <a:r>
              <a:rPr kumimoji="1" lang="zh-CN" altLang="en-US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单例类</a:t>
            </a: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View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mView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setView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(View v)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mView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v;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class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extends Activity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Singleton.getInstance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().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setView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mView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内存泄露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7481455"/>
            <a:ext cx="2975495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注册、注销配对使用。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1363059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会引起内存泄漏的场景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、往系统服务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单例中，注册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Context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Listener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Callback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、广播等。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、单例或静态变量中，保存了一个集合（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），只往集合中添加元素，而没有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clear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或移除。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不会引起内存泄漏的场景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、对象之间，存在双向引用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、往一个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中注册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OnClickListener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等，因为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View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对象会跟随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Activity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释放掉。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内存泄露的根本原因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存在一条强引用的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GC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路径，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GC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路径的根节点（即图中的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对象）是系统服务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静态变量。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527585" y="6108312"/>
            <a:ext cx="4804568" cy="725378"/>
            <a:chOff x="1760507" y="2281498"/>
            <a:chExt cx="4804568" cy="725378"/>
          </a:xfrm>
        </p:grpSpPr>
        <p:sp>
          <p:nvSpPr>
            <p:cNvPr id="9" name="流程图: 联系 8"/>
            <p:cNvSpPr/>
            <p:nvPr/>
          </p:nvSpPr>
          <p:spPr>
            <a:xfrm>
              <a:off x="1760507" y="2281498"/>
              <a:ext cx="720000" cy="720000"/>
            </a:xfrm>
            <a:prstGeom prst="flowChartConnector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 eaLnBrk="0"/>
              <a:r>
                <a:rPr lang="en-US" altLang="zh-CN" dirty="0" smtClean="0"/>
                <a:t>a</a:t>
              </a:r>
            </a:p>
          </p:txBody>
        </p:sp>
        <p:cxnSp>
          <p:nvCxnSpPr>
            <p:cNvPr id="10" name="直接箭头连接符 9"/>
            <p:cNvCxnSpPr>
              <a:stCxn id="9" idx="6"/>
              <a:endCxn id="12" idx="2"/>
            </p:cNvCxnSpPr>
            <p:nvPr/>
          </p:nvCxnSpPr>
          <p:spPr>
            <a:xfrm>
              <a:off x="2480507" y="2641498"/>
              <a:ext cx="636854" cy="537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12" name="流程图: 联系 11"/>
            <p:cNvSpPr/>
            <p:nvPr/>
          </p:nvSpPr>
          <p:spPr>
            <a:xfrm>
              <a:off x="3117361" y="2286876"/>
              <a:ext cx="720000" cy="720000"/>
            </a:xfrm>
            <a:prstGeom prst="flowChartConnector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 eaLnBrk="0"/>
              <a:r>
                <a:rPr lang="en-US" altLang="zh-CN" dirty="0" smtClean="0"/>
                <a:t>b</a:t>
              </a:r>
            </a:p>
          </p:txBody>
        </p:sp>
        <p:sp>
          <p:nvSpPr>
            <p:cNvPr id="14" name="流程图: 联系 13"/>
            <p:cNvSpPr/>
            <p:nvPr/>
          </p:nvSpPr>
          <p:spPr>
            <a:xfrm>
              <a:off x="4538790" y="2281498"/>
              <a:ext cx="720000" cy="720000"/>
            </a:xfrm>
            <a:prstGeom prst="flowChartConnector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 eaLnBrk="0"/>
              <a:r>
                <a:rPr lang="en-US" altLang="zh-CN" dirty="0" smtClean="0"/>
                <a:t>c</a:t>
              </a:r>
            </a:p>
          </p:txBody>
        </p:sp>
        <p:cxnSp>
          <p:nvCxnSpPr>
            <p:cNvPr id="15" name="直接箭头连接符 14"/>
            <p:cNvCxnSpPr>
              <a:stCxn id="12" idx="6"/>
              <a:endCxn id="14" idx="2"/>
            </p:cNvCxnSpPr>
            <p:nvPr/>
          </p:nvCxnSpPr>
          <p:spPr>
            <a:xfrm flipV="1">
              <a:off x="3837361" y="2641498"/>
              <a:ext cx="701429" cy="537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  <p:sp>
          <p:nvSpPr>
            <p:cNvPr id="16" name="流程图: 联系 15"/>
            <p:cNvSpPr/>
            <p:nvPr/>
          </p:nvSpPr>
          <p:spPr>
            <a:xfrm>
              <a:off x="5845075" y="2286876"/>
              <a:ext cx="720000" cy="720000"/>
            </a:xfrm>
            <a:prstGeom prst="flowChartConnector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 eaLnBrk="0"/>
              <a:r>
                <a:rPr lang="en-US" altLang="zh-CN" dirty="0" smtClean="0"/>
                <a:t>d</a:t>
              </a:r>
            </a:p>
          </p:txBody>
        </p:sp>
        <p:cxnSp>
          <p:nvCxnSpPr>
            <p:cNvPr id="17" name="直接箭头连接符 16"/>
            <p:cNvCxnSpPr>
              <a:stCxn id="14" idx="6"/>
              <a:endCxn id="16" idx="2"/>
            </p:cNvCxnSpPr>
            <p:nvPr/>
          </p:nvCxnSpPr>
          <p:spPr>
            <a:xfrm>
              <a:off x="5258790" y="2641498"/>
              <a:ext cx="586285" cy="537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内存泄露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6977585"/>
            <a:ext cx="8809864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但是这个代码仍然没解决强引用的问题，因为内部类没有定义为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static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内部类尽量定义为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static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896381" cy="1615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内部类会保存其外部类的一个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this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指针。而对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Activity.this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指针的强引用，会有内存泄漏风险。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可考虑用弱引用替代强引用。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3220" y="3483179"/>
            <a:ext cx="10450302" cy="317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extends Activity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MyHandler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extends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AsyncQueryHandler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WeakReference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&lt;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&gt;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MyQueryHandler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activity)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mActivity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new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WeakReference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(activity);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b="0" i="0" u="none" strike="noStrike" kern="1200" cap="none" spc="197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延迟处理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5783283"/>
            <a:ext cx="1018740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动画结束后，可能对方已经挂断电话了，已经没有来电了。再接听来电就会有异常。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延迟时间到，要重新检查一次状态，才能执行相应操作。</a:t>
            </a: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7667484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当延迟时间到时，状态已经发生改变，不能再执行那个操作了。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91265" y="3041815"/>
            <a:ext cx="9203405" cy="2551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answerCall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Animation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anim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……;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anim.addListener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onAnimationEnd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doAnswerCall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b="0" i="0" u="none" strike="noStrike" kern="1200" cap="none" spc="197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延迟处理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63594" y="7006442"/>
            <a:ext cx="10187402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在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showDialog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之前，先检查界面是否已经被销毁了。</a:t>
            </a: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338086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异步处理完之后，显示一个对话框。如果此时界面已经销毁了，再显示对话框就会崩溃。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9403" y="3021514"/>
            <a:ext cx="8692737" cy="38071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 static final </a:t>
            </a:r>
            <a:r>
              <a:rPr kumimoji="1" lang="en-US" altLang="zh-CN" sz="17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MSG_DONE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1;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getData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mHandler.sendEmptyMessageDelayed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(MSG_DONE, 2000);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handleMessage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(Message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switch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msg.what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case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MSG_DONE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: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showDialog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(“xxx”);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break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616561" cy="25391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、多线程代码天生存在非确定性，所以可能更难以重现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、多线程有时候十分隐晦。除了主线程、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new Thread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task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线程外，还有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Binder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线程、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HandlerThread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FileObserver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线程、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Provider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线程等。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、类之间的相互调用，使得有些代码很难判断它会在哪个线程执行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40115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多线程操作全局变量（一个线程读、一个线程写）。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9160" y="3021514"/>
            <a:ext cx="10022791" cy="349326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Handler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mHandler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2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3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thread1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4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if(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mHandler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!=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5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mHandler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.sendMessage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(…);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6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7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8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9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thread2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10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mHandler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null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b="1" spc="148" dirty="0" smtClean="0">
                <a:solidFill>
                  <a:srgbClr val="00B05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11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}</a:t>
            </a:r>
          </a:p>
        </p:txBody>
      </p:sp>
      <p:sp>
        <p:nvSpPr>
          <p:cNvPr id="5" name="矩形 4"/>
          <p:cNvSpPr/>
          <p:nvPr/>
        </p:nvSpPr>
        <p:spPr>
          <a:xfrm>
            <a:off x="1367285" y="6658528"/>
            <a:ext cx="939175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第一个线程执行到第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行时，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mHandler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是非空的。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然后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执行第二个线程，将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mHandler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赋值为空。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然后再执行第一个线程的第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行，就会报空指针错误。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、多线程读写全局变量，需要加锁。如果都是读，可以不加锁。</a:t>
            </a: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、修改代码逻辑，保证在同一个线程中操作全局变量。。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4889480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获得锁后，做耗时的操作，导致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ANR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7285" y="6329551"/>
            <a:ext cx="939175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、获得锁后不做耗时的操作。锁的颗粒度尽可能小，只保护必要的变量。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6021" y="3021514"/>
            <a:ext cx="8692737" cy="317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runInMain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mConfig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runInThread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mConfig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7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readFile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6021" y="7165395"/>
            <a:ext cx="8692737" cy="19236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runInThread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</a:t>
            </a:r>
            <a:r>
              <a:rPr kumimoji="1" lang="en-US" altLang="zh-CN" sz="17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config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readFile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mConfig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config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8993168" cy="1615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在一个类中，甚至一个进程中，全部用同一把锁，会大大提高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ANR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的概率。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因为只要有其中一个函数卡住了，主线程就会抢不到这把锁，引起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ANR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7285" y="8174796"/>
            <a:ext cx="939175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不同的保护的数据对象，尽量用两把不同的锁。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8155" y="3483179"/>
            <a:ext cx="8692737" cy="38071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Object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Object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mObj2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fun1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</a:t>
            </a:r>
            <a:r>
              <a:rPr kumimoji="1" lang="en-US" altLang="zh-CN" sz="1700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synchronized(this)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…;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fun2()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mObj2 = …;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r>
              <a:rPr kumimoji="1" lang="en-US" altLang="zh-CN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 – </a:t>
            </a: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死锁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402207" cy="16158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使用了多把锁。一个线程占有了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锁，等待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锁。而另外一个线程占有了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锁，等待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锁。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于是两个线程都处于等待状态，永远都得不到执行。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7285" y="8174796"/>
            <a:ext cx="939175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尽量避免获取一把锁后，再获取另外一把锁。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0030" y="3447554"/>
            <a:ext cx="8716504" cy="474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work1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mLockA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mLockB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work2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mLockB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mLockA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r>
              <a:rPr kumimoji="1" lang="en-US" altLang="zh-CN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 – </a:t>
            </a: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死锁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2537874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类之间相互调用。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81649" y="7569875"/>
            <a:ext cx="939175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类都需要加锁的情况下，避免双向调用。</a:t>
            </a:r>
          </a:p>
          <a:p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、定义锁的顺序。比如，允许先获取大锁的情况下，再获取小锁。而不允许先获取大锁再获取小锁。</a:t>
            </a:r>
          </a:p>
          <a:p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3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、锁的颗粒度尽可能小。执行完必要的操作后，马上退出，避免长时间持有并调用别的函数。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1649" y="3021514"/>
            <a:ext cx="4738270" cy="44350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A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B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mB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work()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this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mB.work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job()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this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5447" y="3021514"/>
            <a:ext cx="4548266" cy="44350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B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A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mA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work()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this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job()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this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mA.job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并发错误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1570347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对于集合（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），一个线程读，一个线程写，导致并发异常（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ConcurrentModification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67285" y="5712035"/>
            <a:ext cx="1124431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加锁，或者改用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ConcurrentHashMap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。加锁后，如果遍历过程中，比较耗时，可以遍历其备份。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7285" y="3021514"/>
            <a:ext cx="8692737" cy="2551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remove(Object o)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mList.remove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(o);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for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(Object o :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mList.values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……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7285" y="6689406"/>
            <a:ext cx="8692737" cy="255146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mLock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List list = copy(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7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for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(Object o : </a:t>
            </a:r>
            <a:r>
              <a:rPr kumimoji="1" lang="en-US" altLang="zh-CN" sz="17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list.values</a:t>
            </a: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// </a:t>
            </a:r>
            <a:r>
              <a:rPr kumimoji="1" lang="zh-CN" altLang="en-US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耗时操作</a:t>
            </a:r>
            <a:endParaRPr kumimoji="1" lang="en-US" altLang="zh-CN" sz="17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7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多线程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9762609" cy="39241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）时刻意识到当前的代码，运行在什么线程？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）如果是多线程环境，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check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是否使用到了 全局变量 和 配对操作 ？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多线程问题的解决方法：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）改造为单线程，或者说，在同一个线程中操作某个全局变量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最优）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）使用临时变量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参数传递 等方式，替代全局变量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与时序相关的变量不适用）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）加锁 （需注意函数封装和加锁的完备性、避免长时间持锁和死锁问题）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多</a:t>
            </a: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线程改造技巧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128025" cy="669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工作任务类</a:t>
            </a: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在多线程中使用标志位等来处理工作任务的问题，会相当麻烦，并引入了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15015" y="2559621"/>
            <a:ext cx="10640320" cy="46905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子线程代码：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ublic void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run() {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while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mNeedDo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mDone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false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mArgument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mDone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true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synchronized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mObject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mObject.wait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主</a:t>
            </a: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线程，发起任务时，需要设置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mArgument</a:t>
            </a: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参数，设置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mNeedDo</a:t>
            </a: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变量，再通知子线程来执行。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多</a:t>
            </a: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线程改造技巧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128025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工作任务类（改造后）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5015" y="2559621"/>
            <a:ext cx="10640320" cy="40257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主线程：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createHanderThread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Message.obtain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mWorkHandler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, MSG_ID, argument).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sendToTarget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子线程：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void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handleMessage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(...)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switch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msg.what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case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MSG_ID: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(msg.obj);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break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}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76597" y="6852062"/>
            <a:ext cx="1097873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）创建一个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HandlerThread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来执行任务。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）主线程：将参数包装到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msg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中，发送给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HandlerThread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）子线程：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HandlerThread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收到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msg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后，提取出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msg.obj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来作为参数，并执行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优点：不需要定义任何全局变量。但需要注意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，生命周期结束时，要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手动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quit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线程。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多</a:t>
            </a: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线程改造技巧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128025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AsyncTask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传递参数</a:t>
            </a: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5015" y="2559621"/>
            <a:ext cx="10640320" cy="43581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rivate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List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...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solidFill>
                <a:srgbClr val="0066FF"/>
              </a:solidFill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子</a:t>
            </a: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线程代码：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MyTask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extends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AsyncTask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&lt;Void, Void, Void&gt;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Void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doInBackground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(Void...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params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.clear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...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b="1" spc="148" dirty="0" err="1" smtClean="0">
                <a:solidFill>
                  <a:srgbClr val="FF00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.add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(...);        </a:t>
            </a:r>
            <a:r>
              <a:rPr kumimoji="1" lang="en-US" altLang="zh-CN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// </a:t>
            </a:r>
            <a:r>
              <a:rPr kumimoji="1" lang="zh-CN" altLang="en-US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在子线程中处理全局变量</a:t>
            </a:r>
            <a:endParaRPr kumimoji="1" lang="en-US" altLang="zh-CN" sz="1800" spc="148" dirty="0" smtClean="0">
              <a:solidFill>
                <a:srgbClr val="006600"/>
              </a:solidFill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null;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主</a:t>
            </a: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线程代码：使用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mList</a:t>
            </a: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变量，比如用于显示等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多</a:t>
            </a: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线程改造技巧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128025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altLang="zh-CN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AsyncTask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传递参数（改造后）</a:t>
            </a: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5015" y="2559621"/>
            <a:ext cx="10640320" cy="43581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子线程代码：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MyTask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extends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AsyncTask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&lt;Void, Void,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List&gt;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doInBackground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(Void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...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params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List result = new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ArrayList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...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result.add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(...);</a:t>
            </a:r>
            <a:endParaRPr kumimoji="1" lang="en-US" altLang="zh-CN" sz="1800" spc="148" dirty="0" smtClean="0">
              <a:solidFill>
                <a:srgbClr val="006666"/>
              </a:solidFill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result;     </a:t>
            </a:r>
            <a:r>
              <a:rPr kumimoji="1" lang="en-US" altLang="zh-CN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// </a:t>
            </a:r>
            <a:r>
              <a:rPr kumimoji="1" lang="zh-CN" altLang="en-US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在子线程中处理临时变量，并作为结果返回给主线程</a:t>
            </a:r>
            <a:endParaRPr kumimoji="1" lang="en-US" altLang="zh-CN" sz="1800" spc="148" dirty="0" smtClean="0">
              <a:solidFill>
                <a:srgbClr val="006600"/>
              </a:solidFill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void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onPostExecute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(List result)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// </a:t>
            </a:r>
            <a:r>
              <a:rPr kumimoji="1" lang="zh-CN" altLang="en-US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回到主线程中，使用结果</a:t>
            </a:r>
            <a:r>
              <a:rPr kumimoji="1" lang="en-US" altLang="zh-CN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</a:t>
            </a:r>
            <a:r>
              <a:rPr kumimoji="1" lang="zh-CN" altLang="en-US" sz="1800" spc="148" dirty="0" smtClean="0">
                <a:solidFill>
                  <a:srgbClr val="006600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，比如用于显示等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212910" y="7129061"/>
            <a:ext cx="1097873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利用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AsnyncTask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result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参数，可以在子线程中操作全局变量。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类似地，还有事前参数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params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多</a:t>
            </a: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线程改造技巧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10128025" cy="621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判不尽的空指针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5015" y="2559621"/>
            <a:ext cx="1064032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private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Object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mObject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zh-CN" altLang="en-US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多线程代码：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mObject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!= null)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mObject.doSomething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212910" y="7129061"/>
            <a:ext cx="109787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当多线程环境下，一个函数中反复用到一个全局变量，可先把这个全局变量读到一个临时变量中来解决。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不适用范围：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强时序相关的变量和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open/close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等配对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操作，不能用这种方法，只能改造为单线程。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5935" y="4960158"/>
            <a:ext cx="10128025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取巧方法 </a:t>
            </a:r>
            <a:r>
              <a:rPr lang="en-US" altLang="zh-C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– </a:t>
            </a: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用临时变量来判空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6953" y="5651734"/>
            <a:ext cx="10640320" cy="13665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Object temp =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mObject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(temp != null)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temp.doSomething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在循环中删除集合元素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51890" y="5311925"/>
            <a:ext cx="1124431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使用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Iterator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删除元素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5015" y="2078182"/>
            <a:ext cx="8692737" cy="10341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for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=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0;i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&lt;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list.size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++){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list.remove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3155" y="3277590"/>
            <a:ext cx="8692737" cy="16989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for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(String s:list){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if(……){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list.remove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(s);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38780" y="6103912"/>
            <a:ext cx="8692737" cy="26961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Iterator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&lt;String&gt;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iter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=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list.iterator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while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iter.hasNext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String s =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iter.next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if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s.equals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("a"))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iter.remove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类型转换错误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5189517"/>
            <a:ext cx="1018740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long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转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后，可能会把正数转换成了负数，从而导致排序错误。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0111 1111 1111 1111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最高位是符号位：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，表示正数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     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1111 1111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最高位是符号位：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，表示负数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避免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long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转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7335663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类型转换，有时不止导致精度丢失，还会导致错误的计算结果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3152" y="3021514"/>
            <a:ext cx="869273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class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MyComparator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smtClean="0">
                <a:solidFill>
                  <a:srgbClr val="0066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implements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Comparator&lt;Item&gt; {</a:t>
            </a:r>
          </a:p>
          <a:p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public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</a:t>
            </a:r>
            <a:r>
              <a:rPr kumimoji="1" lang="en-US" altLang="zh-CN" sz="18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compare(Item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p1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, Item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p2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{</a:t>
            </a:r>
          </a:p>
          <a:p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return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(</a:t>
            </a:r>
            <a:r>
              <a:rPr kumimoji="1" lang="en-US" altLang="zh-CN" sz="1800" spc="148" dirty="0" err="1" smtClean="0">
                <a:solidFill>
                  <a:srgbClr val="0064FF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int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 (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p1.time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–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p2.time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);   </a:t>
            </a:r>
            <a:r>
              <a:rPr kumimoji="1" lang="en-US" altLang="zh-CN" sz="1800" spc="148" dirty="0" smtClean="0">
                <a:solidFill>
                  <a:srgbClr val="339966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// time</a:t>
            </a:r>
            <a:r>
              <a:rPr kumimoji="1" lang="zh-CN" altLang="en-US" sz="1800" spc="148" dirty="0" smtClean="0">
                <a:solidFill>
                  <a:srgbClr val="339966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是</a:t>
            </a:r>
            <a:r>
              <a:rPr kumimoji="1" lang="en-US" altLang="zh-CN" sz="1800" spc="148" dirty="0" smtClean="0">
                <a:solidFill>
                  <a:srgbClr val="339966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long</a:t>
            </a:r>
            <a:r>
              <a:rPr kumimoji="1" lang="zh-CN" altLang="en-US" sz="1800" spc="148" dirty="0" smtClean="0">
                <a:solidFill>
                  <a:srgbClr val="339966"/>
                </a:solidFill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类型</a:t>
            </a:r>
            <a:endParaRPr kumimoji="1" lang="en-US" altLang="zh-CN" sz="1800" spc="148" dirty="0" smtClean="0">
              <a:solidFill>
                <a:srgbClr val="339966"/>
              </a:solidFill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}</a:t>
            </a:r>
          </a:p>
          <a:p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语句穿透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12910" y="7267697"/>
            <a:ext cx="10187402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分析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case xxx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就被穿透下去，导致执行了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xxx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yyy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两个动作。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建议</a:t>
            </a:r>
            <a:endParaRPr lang="zh-CN" altLang="en-US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养成习惯，每一个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case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结束后，都加上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1212910" y="1867352"/>
            <a:ext cx="4524700" cy="11541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起因</a:t>
            </a:r>
            <a:endParaRPr lang="en-US" altLang="zh-CN" dirty="0" smtClean="0">
              <a:solidFill>
                <a:schemeClr val="tx2">
                  <a:lumMod val="60000"/>
                  <a:lumOff val="4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switch case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语句中，缺少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break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语句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26903" y="3021514"/>
            <a:ext cx="8692737" cy="172970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lang="en-US" altLang="zh-CN" sz="1800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1800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</a:rPr>
              <a:t>第一个人写的代码</a:t>
            </a:r>
            <a:endParaRPr lang="en-US" altLang="zh-CN" sz="1800" dirty="0" smtClean="0">
              <a:solidFill>
                <a:srgbClr val="339966"/>
              </a:solidFill>
              <a:latin typeface="微软雅黑" pitchFamily="34" charset="-122"/>
              <a:ea typeface="微软雅黑" pitchFamily="34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switch (tag){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case xxx: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6903" y="4902138"/>
            <a:ext cx="8692737" cy="23637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lang="en-US" altLang="zh-CN" sz="1800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zh-CN" altLang="en-US" sz="1800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</a:rPr>
              <a:t>第二个人加了一个</a:t>
            </a:r>
            <a:r>
              <a:rPr lang="en-US" altLang="zh-CN" sz="1800" dirty="0" smtClean="0">
                <a:solidFill>
                  <a:srgbClr val="339966"/>
                </a:solidFill>
                <a:latin typeface="微软雅黑" pitchFamily="34" charset="-122"/>
                <a:ea typeface="微软雅黑" pitchFamily="34" charset="-122"/>
              </a:rPr>
              <a:t>case</a:t>
            </a:r>
            <a:endParaRPr kumimoji="1" lang="en-US" altLang="zh-CN" sz="1800" spc="148" dirty="0" smtClean="0">
              <a:latin typeface="方正兰亭粗黑_GBK" panose="02000000000000000000" pitchFamily="2" charset="-122"/>
              <a:ea typeface="方正兰亭粗黑_GBK" panose="02000000000000000000" pitchFamily="2" charset="-122"/>
              <a:cs typeface="方正兰亭粗黑_GBK" panose="02000000000000000000" pitchFamily="2" charset="-122"/>
            </a:endParaRP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switch (tag){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case xxx: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doSomething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case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yyy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: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        </a:t>
            </a:r>
            <a:r>
              <a:rPr kumimoji="1" lang="en-US" altLang="zh-CN" sz="1800" spc="148" dirty="0" err="1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doOtherThing</a:t>
            </a: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();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800" spc="148" dirty="0" smtClean="0">
                <a:latin typeface="方正兰亭粗黑_GBK" panose="02000000000000000000" pitchFamily="2" charset="-122"/>
                <a:ea typeface="方正兰亭粗黑_GBK" panose="02000000000000000000" pitchFamily="2" charset="-122"/>
                <a:cs typeface="方正兰亭粗黑_GBK" panose="02000000000000000000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敏感词、规范、</a:t>
            </a:r>
            <a:r>
              <a:rPr kumimoji="1" lang="en-US" altLang="zh-CN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bug</a:t>
            </a:r>
            <a:r>
              <a:rPr kumimoji="1" lang="zh-CN" altLang="en-US" sz="3500" spc="197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模式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1970" y="2185060"/>
            <a:ext cx="1018740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Cursor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InputStream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OutputStream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   （需要关闭的资源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/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耗时操作）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Thead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lock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wait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                                  （并发与同步）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register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open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bind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                               （配对操作）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list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                                                  （线程、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add/remove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配对）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flag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state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                                                （状态与标志）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handler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delay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onAnimationEnd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     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（延迟，环境变化）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if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条件                                                            （监听与条件退出）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l"/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处理输入、显示数据                                        （监听与数据一致性）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）写代码时，要意识到当前的代码运行在什么线程，单线程还是多线程环境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）写代码时，遇到敏感词，按规范书写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）走查代码时，遇到敏感词，联想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模式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92370" y="451262"/>
            <a:ext cx="10878988" cy="921518"/>
          </a:xfrm>
        </p:spPr>
        <p:txBody>
          <a:bodyPr/>
          <a:lstStyle/>
          <a:p>
            <a:pPr algn="ctr"/>
            <a:r>
              <a:rPr lang="zh-CN" altLang="en-US" dirty="0" smtClean="0"/>
              <a:t>案例分析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667002" y="3954484"/>
            <a:ext cx="2850078" cy="13300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天气服务</a:t>
            </a:r>
            <a:endParaRPr lang="zh-CN" altLang="en-US" dirty="0"/>
          </a:p>
        </p:txBody>
      </p:sp>
      <p:sp>
        <p:nvSpPr>
          <p:cNvPr id="10" name="圆柱形 9"/>
          <p:cNvSpPr/>
          <p:nvPr/>
        </p:nvSpPr>
        <p:spPr>
          <a:xfrm>
            <a:off x="805554" y="3574472"/>
            <a:ext cx="1828800" cy="2090057"/>
          </a:xfrm>
          <a:prstGeom prst="can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城市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数据库</a:t>
            </a:r>
            <a:endParaRPr lang="zh-CN" altLang="en-US" dirty="0"/>
          </a:p>
        </p:txBody>
      </p:sp>
      <p:sp>
        <p:nvSpPr>
          <p:cNvPr id="12" name="流程图: 顺序访问存储器 11"/>
          <p:cNvSpPr/>
          <p:nvPr/>
        </p:nvSpPr>
        <p:spPr>
          <a:xfrm flipH="1">
            <a:off x="9816926" y="3716972"/>
            <a:ext cx="2054432" cy="1840676"/>
          </a:xfrm>
          <a:prstGeom prst="flowChartMagneticTap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天气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服务器</a:t>
            </a:r>
            <a:endParaRPr lang="zh-CN" altLang="en-US" dirty="0"/>
          </a:p>
        </p:txBody>
      </p:sp>
      <p:grpSp>
        <p:nvGrpSpPr>
          <p:cNvPr id="2" name="组合 16"/>
          <p:cNvGrpSpPr/>
          <p:nvPr/>
        </p:nvGrpSpPr>
        <p:grpSpPr>
          <a:xfrm>
            <a:off x="2634354" y="4127058"/>
            <a:ext cx="2032648" cy="492445"/>
            <a:chOff x="2634354" y="4127058"/>
            <a:chExt cx="2032648" cy="492445"/>
          </a:xfrm>
        </p:grpSpPr>
        <p:cxnSp>
          <p:nvCxnSpPr>
            <p:cNvPr id="14" name="直接箭头连接符 13"/>
            <p:cNvCxnSpPr>
              <a:stCxn id="9" idx="1"/>
              <a:endCxn id="10" idx="4"/>
            </p:cNvCxnSpPr>
            <p:nvPr/>
          </p:nvCxnSpPr>
          <p:spPr>
            <a:xfrm rot="10800000">
              <a:off x="2634354" y="4619501"/>
              <a:ext cx="2032648" cy="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21386" y="4127058"/>
              <a:ext cx="152477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accent5">
                      <a:lumMod val="75000"/>
                    </a:schemeClr>
                  </a:solidFill>
                </a:rPr>
                <a:t>读、监听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3" name="组合 22"/>
          <p:cNvGrpSpPr/>
          <p:nvPr/>
        </p:nvGrpSpPr>
        <p:grpSpPr>
          <a:xfrm>
            <a:off x="7517080" y="4138936"/>
            <a:ext cx="2299846" cy="498374"/>
            <a:chOff x="7517080" y="4138936"/>
            <a:chExt cx="2299846" cy="498374"/>
          </a:xfrm>
        </p:grpSpPr>
        <p:cxnSp>
          <p:nvCxnSpPr>
            <p:cNvPr id="19" name="直接箭头连接符 18"/>
            <p:cNvCxnSpPr>
              <a:stCxn id="9" idx="3"/>
              <a:endCxn id="12" idx="3"/>
            </p:cNvCxnSpPr>
            <p:nvPr/>
          </p:nvCxnSpPr>
          <p:spPr>
            <a:xfrm>
              <a:off x="7517080" y="4619503"/>
              <a:ext cx="2299846" cy="1780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7861465" y="4138936"/>
              <a:ext cx="1524776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solidFill>
                    <a:schemeClr val="accent5">
                      <a:lumMod val="75000"/>
                    </a:schemeClr>
                  </a:solidFill>
                </a:rPr>
                <a:t>联网查询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809287" y="5557648"/>
            <a:ext cx="2552686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WeatherService</a:t>
            </a:r>
            <a:endParaRPr lang="en-US" altLang="zh-CN" dirty="0" smtClean="0"/>
          </a:p>
          <a:p>
            <a:endParaRPr lang="en-US" altLang="zh-C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altLang="zh-CN" dirty="0" smtClean="0"/>
              <a:t>update()</a:t>
            </a:r>
          </a:p>
          <a:p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en-US" altLang="zh-CN" dirty="0" err="1" smtClean="0">
                <a:solidFill>
                  <a:srgbClr val="0000FF"/>
                </a:solidFill>
              </a:rPr>
              <a:t>mCityList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r>
              <a:rPr lang="en-US" altLang="zh-CN" dirty="0" err="1" smtClean="0">
                <a:solidFill>
                  <a:srgbClr val="0000FF"/>
                </a:solidFill>
              </a:rPr>
              <a:t>mWeatherList</a:t>
            </a:r>
            <a:endParaRPr lang="en-US" altLang="zh-CN" dirty="0" smtClean="0">
              <a:solidFill>
                <a:srgbClr val="0000FF"/>
              </a:solidFill>
            </a:endParaRPr>
          </a:p>
          <a:p>
            <a:endParaRPr lang="zh-CN" alt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92370" y="451262"/>
            <a:ext cx="10878988" cy="921518"/>
          </a:xfrm>
        </p:spPr>
        <p:txBody>
          <a:bodyPr/>
          <a:lstStyle/>
          <a:p>
            <a:pPr algn="ctr"/>
            <a:r>
              <a:rPr lang="zh-CN" altLang="en-US" dirty="0" smtClean="0"/>
              <a:t>案例分析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6265" y="1372780"/>
            <a:ext cx="11851573" cy="77098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class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WeatherService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extends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Service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 static final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Uri 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CITY_URI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Uri.parse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"content://weather/city"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List&lt;String&gt;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ArrayList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&lt;String&gt;();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List&lt;String&gt;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mWeatherList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ArrayList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&lt;String&gt;();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@Override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void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onCreate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// </a:t>
            </a:r>
            <a:r>
              <a:rPr kumimoji="1" lang="zh-CN" altLang="en-US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注册监听器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getContentResolver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().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registerContentObserver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CITY_URI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false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update();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// </a:t>
            </a:r>
            <a:r>
              <a:rPr kumimoji="1" lang="zh-CN" altLang="en-US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监听器，监听城市列表的变化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ContentObserver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ContentObserver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Handler())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@Override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void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onChange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err="1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boolean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selfChange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update();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更新数据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 void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update()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for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final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String city :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Thread()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</a:t>
            </a:r>
            <a:r>
              <a:rPr kumimoji="1" lang="en-US" altLang="zh-CN" sz="1500" spc="148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@Override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void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run()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    String weather =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getWeather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(city);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   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mWeatherList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.add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(weather);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}.start();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7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7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92370" y="451262"/>
            <a:ext cx="10878988" cy="921518"/>
          </a:xfrm>
        </p:spPr>
        <p:txBody>
          <a:bodyPr/>
          <a:lstStyle/>
          <a:p>
            <a:pPr algn="ctr"/>
            <a:r>
              <a:rPr lang="zh-CN" altLang="en-US" dirty="0" smtClean="0"/>
              <a:t>案例分析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6265" y="1372780"/>
            <a:ext cx="11851573" cy="62196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solidFill>
                <a:srgbClr val="00B050"/>
              </a:solidFill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读取城市列表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void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从数据库中查询城市列表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getContentResolver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().query(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CITY_URI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String[] {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"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city_name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"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},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for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err="1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int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pos = 0; pos &lt;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cursor.getCount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(); pos++)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cursor.moveToPosition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(pos);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mCityList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.add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cursor.getString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(0));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联网读取天气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String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getWeather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(String city)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String weather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try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联网读取天气数据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InputStream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in = ...;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weather = ...;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in.close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catch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(Exception e)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return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weather;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92370" y="451262"/>
            <a:ext cx="10878988" cy="921518"/>
          </a:xfrm>
        </p:spPr>
        <p:txBody>
          <a:bodyPr/>
          <a:lstStyle/>
          <a:p>
            <a:pPr algn="ctr"/>
            <a:r>
              <a:rPr lang="zh-CN" altLang="en-US" dirty="0" smtClean="0"/>
              <a:t>案例分析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6265" y="1372780"/>
            <a:ext cx="11851573" cy="77098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class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WeatherService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extends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Service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 static final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Uri 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CITY_URI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Uri.parse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"content://weather/city"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List&lt;String&gt;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ArrayList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&lt;&gt;();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List&lt;String&gt;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mWeatherList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ArrayList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&lt;String&gt;();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@Override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void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onCreate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// </a:t>
            </a:r>
            <a:r>
              <a:rPr kumimoji="1" lang="zh-CN" altLang="en-US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注册监听器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getContentResolver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().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registerContentObserver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CITY_URI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false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update();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// </a:t>
            </a:r>
            <a:r>
              <a:rPr kumimoji="1" lang="zh-CN" altLang="en-US" sz="1500" spc="148" dirty="0" smtClean="0">
                <a:solidFill>
                  <a:srgbClr val="00990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监听器，监听城市列表的变化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ContentObserver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ContentObserver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Handler())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@Override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void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onChange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err="1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boolean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selfChange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update();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更新数据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 void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update()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for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final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String city :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Thread()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</a:t>
            </a:r>
            <a:r>
              <a:rPr kumimoji="1" lang="en-US" altLang="zh-CN" sz="1500" spc="148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@Override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 void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run()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    String weather =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getWeather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(city);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   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mWeatherList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.add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(weather);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}.start();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15401" y="2483640"/>
            <a:ext cx="5886195" cy="1163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200" b="1" spc="148" dirty="0" smtClean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@Override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200" b="1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public</a:t>
            </a: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200" b="1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void</a:t>
            </a: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200" b="1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onDestory</a:t>
            </a: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{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200" b="1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getContentResolver</a:t>
            </a: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().</a:t>
            </a:r>
            <a:r>
              <a:rPr kumimoji="1" lang="en-US" altLang="zh-CN" sz="1200" b="1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unregisterContentObserver</a:t>
            </a: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200" b="1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200" b="1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mCityObserver</a:t>
            </a: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spcBef>
                <a:spcPct val="20000"/>
              </a:spcBef>
            </a:pPr>
            <a:r>
              <a:rPr kumimoji="1" lang="en-US" altLang="zh-CN" sz="1200" b="1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}</a:t>
            </a:r>
          </a:p>
        </p:txBody>
      </p:sp>
      <p:grpSp>
        <p:nvGrpSpPr>
          <p:cNvPr id="2" name="组合 21"/>
          <p:cNvGrpSpPr/>
          <p:nvPr/>
        </p:nvGrpSpPr>
        <p:grpSpPr>
          <a:xfrm>
            <a:off x="2945085" y="3780779"/>
            <a:ext cx="9856515" cy="1384995"/>
            <a:chOff x="2945081" y="4580147"/>
            <a:chExt cx="9856515" cy="1384995"/>
          </a:xfrm>
        </p:grpSpPr>
        <p:sp>
          <p:nvSpPr>
            <p:cNvPr id="16" name="TextBox 15"/>
            <p:cNvSpPr txBox="1"/>
            <p:nvPr/>
          </p:nvSpPr>
          <p:spPr>
            <a:xfrm>
              <a:off x="6915401" y="4580147"/>
              <a:ext cx="5886195" cy="13849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507243" indent="-507243" defTabSz="1279525" eaLnBrk="0" hangingPunct="0"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new 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Thread() {</a:t>
              </a:r>
            </a:p>
            <a:p>
              <a:pPr marL="507243" indent="-507243" defTabSz="1279525" eaLnBrk="0" hangingPunct="0"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smtClean="0">
                  <a:solidFill>
                    <a:schemeClr val="bg1">
                      <a:lumMod val="50000"/>
                    </a:schemeClr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@Override</a:t>
              </a:r>
            </a:p>
            <a:p>
              <a:pPr marL="507243" indent="-507243" defTabSz="1279525" eaLnBrk="0" hangingPunct="0"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public void 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run() {</a:t>
              </a:r>
            </a:p>
            <a:p>
              <a:pPr marL="507243" indent="-507243" defTabSz="1279525" eaLnBrk="0" hangingPunct="0"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update()</a:t>
              </a:r>
            </a:p>
            <a:p>
              <a:pPr marL="507243" indent="-507243" defTabSz="1279525" eaLnBrk="0" hangingPunct="0"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}</a:t>
              </a:r>
            </a:p>
            <a:p>
              <a:pPr marL="507243" indent="-507243" defTabSz="1279525" eaLnBrk="0" hangingPunct="0"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}.start();</a:t>
              </a:r>
            </a:p>
          </p:txBody>
        </p:sp>
        <p:cxnSp>
          <p:nvCxnSpPr>
            <p:cNvPr id="17" name="直接箭头连接符 16"/>
            <p:cNvCxnSpPr>
              <a:stCxn id="16" idx="1"/>
            </p:cNvCxnSpPr>
            <p:nvPr/>
          </p:nvCxnSpPr>
          <p:spPr>
            <a:xfrm rot="10800000" flipV="1">
              <a:off x="3348839" y="5272644"/>
              <a:ext cx="3566563" cy="69249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16" idx="1"/>
            </p:cNvCxnSpPr>
            <p:nvPr/>
          </p:nvCxnSpPr>
          <p:spPr>
            <a:xfrm rot="10800000">
              <a:off x="2945081" y="4580147"/>
              <a:ext cx="3970321" cy="69249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" name="组合 29"/>
          <p:cNvGrpSpPr/>
          <p:nvPr/>
        </p:nvGrpSpPr>
        <p:grpSpPr>
          <a:xfrm>
            <a:off x="5593279" y="5474525"/>
            <a:ext cx="7208321" cy="1353787"/>
            <a:chOff x="5593279" y="7101831"/>
            <a:chExt cx="7208321" cy="1353787"/>
          </a:xfrm>
        </p:grpSpPr>
        <p:sp>
          <p:nvSpPr>
            <p:cNvPr id="26" name="TextBox 25"/>
            <p:cNvSpPr txBox="1"/>
            <p:nvPr/>
          </p:nvSpPr>
          <p:spPr>
            <a:xfrm>
              <a:off x="6915405" y="7101831"/>
              <a:ext cx="5886195" cy="86998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for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(String city : </a:t>
              </a:r>
              <a:r>
                <a:rPr kumimoji="1" lang="en-US" altLang="zh-CN" sz="1200" b="1" spc="148" dirty="0" err="1" smtClean="0">
                  <a:solidFill>
                    <a:srgbClr val="0000FF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mCityList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String weather = 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getWeather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(city);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0000FF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err="1" smtClean="0">
                  <a:solidFill>
                    <a:srgbClr val="0000FF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mWeatherList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.add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(weather);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</a:t>
              </a:r>
              <a:endParaRPr kumimoji="1" lang="en-US" altLang="zh-CN" sz="1200" b="1" spc="148" dirty="0" smtClean="0">
                <a:solidFill>
                  <a:schemeClr val="tx1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endParaRPr>
            </a:p>
          </p:txBody>
        </p:sp>
        <p:cxnSp>
          <p:nvCxnSpPr>
            <p:cNvPr id="27" name="直接箭头连接符 26"/>
            <p:cNvCxnSpPr>
              <a:stCxn id="26" idx="1"/>
            </p:cNvCxnSpPr>
            <p:nvPr/>
          </p:nvCxnSpPr>
          <p:spPr>
            <a:xfrm rot="10800000" flipV="1">
              <a:off x="5593279" y="7536822"/>
              <a:ext cx="1322127" cy="91879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6" name="组合 30"/>
          <p:cNvGrpSpPr/>
          <p:nvPr/>
        </p:nvGrpSpPr>
        <p:grpSpPr>
          <a:xfrm>
            <a:off x="5890162" y="6654502"/>
            <a:ext cx="6911433" cy="2499146"/>
            <a:chOff x="5890164" y="6267517"/>
            <a:chExt cx="6911433" cy="2499146"/>
          </a:xfrm>
        </p:grpSpPr>
        <p:sp>
          <p:nvSpPr>
            <p:cNvPr id="32" name="TextBox 31"/>
            <p:cNvSpPr txBox="1"/>
            <p:nvPr/>
          </p:nvSpPr>
          <p:spPr>
            <a:xfrm>
              <a:off x="6915402" y="6267517"/>
              <a:ext cx="5886195" cy="24991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List&lt;String&gt;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cityList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=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getCityList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List&lt;String&gt;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weatherList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=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new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ArrayList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&lt;String&gt;();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endParaRPr kumimoji="1" lang="en-US" altLang="zh-CN" sz="1200" b="1" spc="148" dirty="0" smtClean="0">
                <a:solidFill>
                  <a:schemeClr val="tx1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endParaRP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for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(String city :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cityList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String weather =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getWeather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(city);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weatherList.add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(weather);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endParaRPr kumimoji="1" lang="en-US" altLang="zh-CN" sz="1200" b="1" spc="148" dirty="0" smtClean="0">
                <a:solidFill>
                  <a:schemeClr val="tx1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endParaRP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synchronized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this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err="1" smtClean="0">
                  <a:solidFill>
                    <a:srgbClr val="0000FF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mCityList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=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cityList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err="1" smtClean="0">
                  <a:solidFill>
                    <a:srgbClr val="0000FF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mWeatherList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=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weatherList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</a:t>
              </a:r>
            </a:p>
          </p:txBody>
        </p:sp>
        <p:cxnSp>
          <p:nvCxnSpPr>
            <p:cNvPr id="33" name="直接箭头连接符 32"/>
            <p:cNvCxnSpPr>
              <a:stCxn id="32" idx="1"/>
            </p:cNvCxnSpPr>
            <p:nvPr/>
          </p:nvCxnSpPr>
          <p:spPr>
            <a:xfrm rot="10800000" flipV="1">
              <a:off x="5890164" y="7517090"/>
              <a:ext cx="1025239" cy="34927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92370" y="451262"/>
            <a:ext cx="10878988" cy="921518"/>
          </a:xfrm>
        </p:spPr>
        <p:txBody>
          <a:bodyPr/>
          <a:lstStyle/>
          <a:p>
            <a:pPr algn="ctr"/>
            <a:r>
              <a:rPr lang="zh-CN" altLang="en-US" dirty="0" smtClean="0"/>
              <a:t>案例分析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6265" y="1372780"/>
            <a:ext cx="11851573" cy="62196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solidFill>
                <a:srgbClr val="00B050"/>
              </a:solidFill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读取城市列表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void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getCityList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从数据库中查询城市列表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=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getContentResolver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().query(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CITY_URI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new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String[] {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"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city_name</a:t>
            </a:r>
            <a:r>
              <a:rPr kumimoji="1" lang="en-US" altLang="zh-CN" sz="1500" spc="148" dirty="0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"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},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,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for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err="1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int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pos = 0; pos &lt;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cursor.getCount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(); pos++)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cursor.moveToPosition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(pos);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solidFill>
                  <a:srgbClr val="0000FF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mCityList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.add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cursor.getString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(0));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联网读取天气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private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String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getWeather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(String city)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String weather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null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try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// </a:t>
            </a:r>
            <a:r>
              <a:rPr kumimoji="1" lang="zh-CN" altLang="en-US" sz="1500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联网读取天气数据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zh-CN" altLang="en-US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InputStream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in = ...;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weather =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...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    </a:t>
            </a:r>
            <a:r>
              <a:rPr kumimoji="1" lang="en-US" altLang="zh-CN" sz="1500" spc="148" dirty="0" err="1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in.close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();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catch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(Exception e) {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}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endParaRPr kumimoji="1" lang="en-US" altLang="zh-CN" sz="1500" spc="148" dirty="0" smtClean="0">
              <a:latin typeface="Courier New" pitchFamily="49" charset="0"/>
              <a:ea typeface="方正兰亭粗黑_GBK" panose="02000000000000000000" pitchFamily="2" charset="-122"/>
              <a:cs typeface="Courier New" pitchFamily="49" charset="0"/>
            </a:endParaRP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    </a:t>
            </a:r>
            <a:r>
              <a:rPr kumimoji="1" lang="en-US" altLang="zh-CN" sz="1500" spc="148" dirty="0" smtClean="0">
                <a:solidFill>
                  <a:srgbClr val="7030A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return</a:t>
            </a: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weather;</a:t>
            </a:r>
          </a:p>
          <a:p>
            <a:pPr marL="507243" indent="-507243" defTabSz="1279525" eaLnBrk="0" hangingPunct="0">
              <a:lnSpc>
                <a:spcPts val="1300"/>
              </a:lnSpc>
              <a:spcBef>
                <a:spcPct val="20000"/>
              </a:spcBef>
            </a:pPr>
            <a:r>
              <a:rPr kumimoji="1" lang="en-US" altLang="zh-CN" sz="1500" spc="148" dirty="0" smtClean="0"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rPr>
              <a:t>    }</a:t>
            </a:r>
          </a:p>
        </p:txBody>
      </p:sp>
      <p:grpSp>
        <p:nvGrpSpPr>
          <p:cNvPr id="2" name="组合 4"/>
          <p:cNvGrpSpPr/>
          <p:nvPr/>
        </p:nvGrpSpPr>
        <p:grpSpPr>
          <a:xfrm>
            <a:off x="5510151" y="1562780"/>
            <a:ext cx="7232069" cy="3721019"/>
            <a:chOff x="5519300" y="6267517"/>
            <a:chExt cx="7046312" cy="3721019"/>
          </a:xfrm>
        </p:grpSpPr>
        <p:sp>
          <p:nvSpPr>
            <p:cNvPr id="6" name="TextBox 5"/>
            <p:cNvSpPr txBox="1"/>
            <p:nvPr/>
          </p:nvSpPr>
          <p:spPr>
            <a:xfrm>
              <a:off x="6687897" y="6267517"/>
              <a:ext cx="5877715" cy="372101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private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List&lt;String&gt; 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getCityList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List&lt;String&gt; </a:t>
              </a:r>
              <a:r>
                <a:rPr kumimoji="1" lang="en-US" altLang="zh-CN" sz="1200" b="1" spc="148" dirty="0" err="1" smtClean="0">
                  <a:solidFill>
                    <a:srgbClr val="FF000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cityList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=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new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ArrayList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&lt;String&gt;();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endParaRPr kumimoji="1" lang="en-US" altLang="zh-CN" sz="1200" b="1" spc="148" dirty="0" smtClean="0">
                <a:solidFill>
                  <a:srgbClr val="00B050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endParaRP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Cursor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cursor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= null;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try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cursor = 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getContentResolver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().query(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...);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for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...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   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cursor.moveToPosition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(pos);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   </a:t>
              </a:r>
              <a:r>
                <a:rPr kumimoji="1" lang="en-US" altLang="zh-CN" sz="1200" b="1" spc="148" dirty="0" err="1" smtClean="0">
                  <a:solidFill>
                    <a:srgbClr val="FF000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citylist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.add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</a:t>
              </a:r>
              <a:r>
                <a:rPr kumimoji="1" lang="en-US" altLang="zh-CN" sz="1200" b="1" spc="148" dirty="0" err="1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cursor.getString</a:t>
              </a: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(0));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}</a:t>
              </a:r>
              <a:endParaRPr kumimoji="1" lang="en-US" altLang="zh-CN" sz="1200" b="1" spc="148" dirty="0" smtClean="0">
                <a:solidFill>
                  <a:schemeClr val="tx1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endParaRP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}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catch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(Exception e)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}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finally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if(cursor !=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null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   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cursor.close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}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}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return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cityList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</a:t>
              </a:r>
            </a:p>
          </p:txBody>
        </p:sp>
        <p:cxnSp>
          <p:nvCxnSpPr>
            <p:cNvPr id="8" name="直接箭头连接符 7"/>
            <p:cNvCxnSpPr>
              <a:stCxn id="6" idx="1"/>
            </p:cNvCxnSpPr>
            <p:nvPr/>
          </p:nvCxnSpPr>
          <p:spPr>
            <a:xfrm rot="10800000">
              <a:off x="5519300" y="7364835"/>
              <a:ext cx="1168597" cy="76319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" name="组合 15"/>
          <p:cNvGrpSpPr/>
          <p:nvPr/>
        </p:nvGrpSpPr>
        <p:grpSpPr>
          <a:xfrm>
            <a:off x="5510151" y="5577356"/>
            <a:ext cx="7232069" cy="2702791"/>
            <a:chOff x="5461445" y="6801906"/>
            <a:chExt cx="7046312" cy="2702791"/>
          </a:xfrm>
        </p:grpSpPr>
        <p:sp>
          <p:nvSpPr>
            <p:cNvPr id="17" name="TextBox 16"/>
            <p:cNvSpPr txBox="1"/>
            <p:nvPr/>
          </p:nvSpPr>
          <p:spPr>
            <a:xfrm>
              <a:off x="6630042" y="6801906"/>
              <a:ext cx="5877715" cy="27027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InputStream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in =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null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endParaRPr kumimoji="1" lang="en-US" altLang="zh-CN" sz="1200" b="1" spc="148" dirty="0" smtClean="0">
                <a:solidFill>
                  <a:schemeClr val="tx1"/>
                </a:solidFill>
                <a:latin typeface="Courier New" pitchFamily="49" charset="0"/>
                <a:ea typeface="方正兰亭粗黑_GBK" panose="02000000000000000000" pitchFamily="2" charset="-122"/>
                <a:cs typeface="Courier New" pitchFamily="49" charset="0"/>
              </a:endParaRP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try 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...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 catch (Exception e)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finally 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if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(in !=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null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try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    </a:t>
              </a:r>
              <a:r>
                <a:rPr kumimoji="1" lang="en-US" altLang="zh-CN" sz="1200" b="1" spc="148" dirty="0" err="1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in.close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();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} </a:t>
              </a:r>
              <a:r>
                <a:rPr kumimoji="1" lang="en-US" altLang="zh-CN" sz="1200" b="1" spc="148" dirty="0" smtClean="0">
                  <a:solidFill>
                    <a:srgbClr val="7030A0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catch</a:t>
              </a: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Exception() {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    }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    }</a:t>
              </a:r>
            </a:p>
            <a:p>
              <a:pPr marL="507243" indent="-507243" defTabSz="1279525" eaLnBrk="0" hangingPunct="0">
                <a:lnSpc>
                  <a:spcPts val="1300"/>
                </a:lnSpc>
                <a:spcBef>
                  <a:spcPct val="20000"/>
                </a:spcBef>
              </a:pPr>
              <a:r>
                <a:rPr kumimoji="1" lang="en-US" altLang="zh-CN" sz="1200" b="1" spc="148" dirty="0" smtClean="0">
                  <a:solidFill>
                    <a:schemeClr val="tx1"/>
                  </a:solidFill>
                  <a:latin typeface="Courier New" pitchFamily="49" charset="0"/>
                  <a:ea typeface="方正兰亭粗黑_GBK" panose="02000000000000000000" pitchFamily="2" charset="-122"/>
                  <a:cs typeface="Courier New" pitchFamily="49" charset="0"/>
                </a:rPr>
                <a:t>}</a:t>
              </a:r>
            </a:p>
          </p:txBody>
        </p:sp>
        <p:cxnSp>
          <p:nvCxnSpPr>
            <p:cNvPr id="18" name="直接箭头连接符 17"/>
            <p:cNvCxnSpPr>
              <a:stCxn id="17" idx="1"/>
            </p:cNvCxnSpPr>
            <p:nvPr/>
          </p:nvCxnSpPr>
          <p:spPr>
            <a:xfrm rot="10800000">
              <a:off x="5461445" y="7899218"/>
              <a:ext cx="1168597" cy="25408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92370" y="451262"/>
            <a:ext cx="10878988" cy="921518"/>
          </a:xfrm>
        </p:spPr>
        <p:txBody>
          <a:bodyPr/>
          <a:lstStyle/>
          <a:p>
            <a:pPr algn="ctr"/>
            <a:r>
              <a:rPr lang="zh-CN" altLang="en-US" dirty="0" smtClean="0"/>
              <a:t>参考资料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0"/>
          </p:nvPr>
        </p:nvSpPr>
        <p:spPr>
          <a:xfrm>
            <a:off x="992370" y="1372779"/>
            <a:ext cx="10878988" cy="8115519"/>
          </a:xfrm>
        </p:spPr>
        <p:txBody>
          <a:bodyPr/>
          <a:lstStyle/>
          <a:p>
            <a:pPr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Java</a:t>
            </a:r>
            <a:r>
              <a:rPr lang="zh-CN" altLang="en-US" sz="2400" dirty="0" smtClean="0"/>
              <a:t>开发人员最常犯的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个错误</a:t>
            </a:r>
            <a:endParaRPr lang="en-US" altLang="zh-CN" sz="2400" dirty="0" smtClean="0"/>
          </a:p>
          <a:p>
            <a:pPr>
              <a:buNone/>
            </a:pPr>
            <a:r>
              <a:rPr lang="en-US" altLang="zh-CN" sz="2000" dirty="0" smtClean="0"/>
              <a:t>   </a:t>
            </a:r>
            <a:r>
              <a:rPr lang="en-US" altLang="zh-CN" sz="2000" dirty="0" smtClean="0">
                <a:hlinkClick r:id="rId2"/>
              </a:rPr>
              <a:t>http://</a:t>
            </a:r>
            <a:r>
              <a:rPr lang="en-US" altLang="zh-CN" sz="2000" dirty="0" err="1" smtClean="0">
                <a:hlinkClick r:id="rId2"/>
              </a:rPr>
              <a:t>www.techug.com</a:t>
            </a:r>
            <a:r>
              <a:rPr lang="en-US" altLang="zh-CN" sz="2000" dirty="0" smtClean="0">
                <a:hlinkClick r:id="rId2"/>
              </a:rPr>
              <a:t>/java-developer</a:t>
            </a:r>
            <a:endParaRPr lang="en-US" altLang="zh-CN" sz="2000" dirty="0" smtClean="0"/>
          </a:p>
          <a:p>
            <a:pPr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《Java Bug</a:t>
            </a:r>
            <a:r>
              <a:rPr lang="zh-CN" altLang="en-US" sz="2400" dirty="0" smtClean="0"/>
              <a:t>模式详解</a:t>
            </a:r>
            <a:r>
              <a:rPr lang="en-US" altLang="zh-CN" sz="2400" dirty="0" smtClean="0"/>
              <a:t>》</a:t>
            </a:r>
          </a:p>
          <a:p>
            <a:pPr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</a:t>
            </a:r>
            <a:r>
              <a:rPr lang="en-US" altLang="zh-CN" sz="2400" dirty="0" smtClean="0"/>
              <a:t> </a:t>
            </a:r>
            <a:r>
              <a:rPr lang="en-US" altLang="zh-CN" sz="2400" dirty="0" smtClean="0">
                <a:hlinkClick r:id="rId3"/>
              </a:rPr>
              <a:t>http://192.168.2.27/mediawikis/index.php/</a:t>
            </a:r>
            <a:r>
              <a:rPr lang="zh-CN" altLang="en-US" sz="2400" dirty="0" smtClean="0">
                <a:hlinkClick r:id="rId3"/>
              </a:rPr>
              <a:t>软件可靠性设计指南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6"/>
          <p:cNvSpPr txBox="1">
            <a:spLocks noChangeArrowheads="1"/>
          </p:cNvSpPr>
          <p:nvPr/>
        </p:nvSpPr>
        <p:spPr bwMode="auto">
          <a:xfrm>
            <a:off x="-944563" y="6124575"/>
            <a:ext cx="18097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179" tIns="45090" rIns="90179" bIns="45090">
            <a:spAutoFit/>
          </a:bodyPr>
          <a:lstStyle>
            <a:lvl1pPr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defTabSz="639763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>
              <a:latin typeface="Calibri" pitchFamily="34" charset="0"/>
            </a:endParaRPr>
          </a:p>
        </p:txBody>
      </p:sp>
      <p:sp>
        <p:nvSpPr>
          <p:cNvPr id="5" name="标题 4"/>
          <p:cNvSpPr txBox="1">
            <a:spLocks/>
          </p:cNvSpPr>
          <p:nvPr/>
        </p:nvSpPr>
        <p:spPr>
          <a:xfrm>
            <a:off x="1021970" y="1176267"/>
            <a:ext cx="8572560" cy="642918"/>
          </a:xfrm>
          <a:prstGeom prst="rect">
            <a:avLst/>
          </a:prstGeom>
        </p:spPr>
        <p:txBody>
          <a:bodyPr lIns="127997" tIns="63999" rIns="127997" bIns="63999"/>
          <a:lstStyle/>
          <a:p>
            <a:pPr marL="0" marR="0" lvl="0" indent="0" algn="l" defTabSz="1279525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500" spc="197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方正兰亭粗黑_GBK" panose="02000000000000000000" pitchFamily="2" charset="-122"/>
              </a:rPr>
              <a:t>重大问题评估</a:t>
            </a:r>
            <a:endParaRPr kumimoji="1" lang="zh-CN" altLang="en-US" sz="3500" b="0" i="0" u="none" strike="noStrike" kern="1200" cap="none" spc="197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方正兰亭粗黑_GBK" panose="02000000000000000000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1970" y="2185060"/>
            <a:ext cx="10187402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）耗电问题。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）死机问题。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）大面积的基本功能不可用，或大面积的重启问题。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）钱的问题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影响公司收入的问题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流量异常消耗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       - 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用户的人身安全、资金安全等问题（例如爆炸、钱被转走、后台自动拨电话等）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）重要数据丢失问题，例如照片被自动删除等。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）媒体报道的问题、以及违反工信部、运营商要求的。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解完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不一定就完事了，如果是重大问题，迅速发送给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赵淑平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，来安排跟进同步。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2"/>
          <p:cNvSpPr>
            <a:spLocks noChangeArrowheads="1"/>
          </p:cNvSpPr>
          <p:nvPr/>
        </p:nvSpPr>
        <p:spPr bwMode="auto">
          <a:xfrm>
            <a:off x="4987925" y="4321175"/>
            <a:ext cx="249237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342900" indent="-342900" algn="ctr" eaLnBrk="0" hangingPunct="0">
              <a:lnSpc>
                <a:spcPct val="90000"/>
              </a:lnSpc>
              <a:spcBef>
                <a:spcPct val="20000"/>
              </a:spcBef>
            </a:pPr>
            <a:r>
              <a:rPr lang="zh-CN" altLang="en-US" sz="6000" b="1">
                <a:solidFill>
                  <a:srgbClr val="3399FF"/>
                </a:solidFill>
                <a:latin typeface="微软雅黑" pitchFamily="34" charset="-122"/>
                <a:ea typeface="微软雅黑" pitchFamily="34" charset="-122"/>
              </a:rPr>
              <a:t>谢谢！</a:t>
            </a:r>
            <a:endParaRPr lang="zh-CN" altLang="en-US" sz="6000" b="1">
              <a:solidFill>
                <a:srgbClr val="3399FF"/>
              </a:solidFill>
              <a:latin typeface="Calibri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5684</TotalTime>
  <Words>4998</Words>
  <Application>Microsoft Office PowerPoint</Application>
  <PresentationFormat>A3 纸张(297x420 毫米)</PresentationFormat>
  <Paragraphs>892</Paragraphs>
  <Slides>49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0" baseType="lpstr">
      <vt:lpstr>Office 主题​​</vt:lpstr>
      <vt:lpstr>幻灯片 1</vt:lpstr>
      <vt:lpstr>Bug模式</vt:lpstr>
      <vt:lpstr>理解软件系统</vt:lpstr>
      <vt:lpstr>重复代码片段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案例分析</vt:lpstr>
      <vt:lpstr>案例分析</vt:lpstr>
      <vt:lpstr>案例分析</vt:lpstr>
      <vt:lpstr>案例分析</vt:lpstr>
      <vt:lpstr>案例分析</vt:lpstr>
      <vt:lpstr>参考资料</vt:lpstr>
      <vt:lpstr>幻灯片 48</vt:lpstr>
      <vt:lpstr>幻灯片 49</vt:lpstr>
    </vt:vector>
  </TitlesOfParts>
  <Company>MetaDesign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MetaDesign AG</dc:creator>
  <cp:lastModifiedBy>vivo</cp:lastModifiedBy>
  <cp:revision>1260</cp:revision>
  <cp:lastPrinted>2015-03-17T03:26:33Z</cp:lastPrinted>
  <dcterms:created xsi:type="dcterms:W3CDTF">2014-12-04T02:45:18Z</dcterms:created>
  <dcterms:modified xsi:type="dcterms:W3CDTF">2018-08-11T09:58:40Z</dcterms:modified>
</cp:coreProperties>
</file>